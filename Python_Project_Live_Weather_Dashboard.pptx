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Canva Sans" panose="020B0604020202020204" charset="0"/>
      <p:regular r:id="rId25"/>
    </p:embeddedFont>
    <p:embeddedFont>
      <p:font typeface="Canva Sans Bold" panose="020B0604020202020204" charset="0"/>
      <p:regular r:id="rId26"/>
    </p:embeddedFont>
    <p:embeddedFont>
      <p:font typeface="Rundeck Texture"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36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Navya" userId="86b5a30ea67ac5f6" providerId="LiveId" clId="{63BDE0DB-9B42-4FBF-8BA6-1E00E909E842}"/>
    <pc:docChg chg="modSld">
      <pc:chgData name="Sree Navya" userId="86b5a30ea67ac5f6" providerId="LiveId" clId="{63BDE0DB-9B42-4FBF-8BA6-1E00E909E842}" dt="2025-04-30T11:05:32.668" v="0" actId="20577"/>
      <pc:docMkLst>
        <pc:docMk/>
      </pc:docMkLst>
      <pc:sldChg chg="modSp mod">
        <pc:chgData name="Sree Navya" userId="86b5a30ea67ac5f6" providerId="LiveId" clId="{63BDE0DB-9B42-4FBF-8BA6-1E00E909E842}" dt="2025-04-30T11:05:32.668" v="0" actId="20577"/>
        <pc:sldMkLst>
          <pc:docMk/>
          <pc:sldMk cId="0" sldId="256"/>
        </pc:sldMkLst>
        <pc:spChg chg="mod">
          <ac:chgData name="Sree Navya" userId="86b5a30ea67ac5f6" providerId="LiveId" clId="{63BDE0DB-9B42-4FBF-8BA6-1E00E909E842}" dt="2025-04-30T11:05:32.668" v="0" actId="20577"/>
          <ac:spMkLst>
            <pc:docMk/>
            <pc:sldMk cId="0" sldId="256"/>
            <ac:spMk id="1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grpSp>
        <p:nvGrpSpPr>
          <p:cNvPr id="2" name="Group 2"/>
          <p:cNvGrpSpPr/>
          <p:nvPr/>
        </p:nvGrpSpPr>
        <p:grpSpPr>
          <a:xfrm>
            <a:off x="914697" y="793573"/>
            <a:ext cx="16458607" cy="8699854"/>
            <a:chOff x="0" y="0"/>
            <a:chExt cx="8277467" cy="4375386"/>
          </a:xfrm>
        </p:grpSpPr>
        <p:sp>
          <p:nvSpPr>
            <p:cNvPr id="3" name="Freeform 3"/>
            <p:cNvSpPr/>
            <p:nvPr/>
          </p:nvSpPr>
          <p:spPr>
            <a:xfrm>
              <a:off x="0" y="0"/>
              <a:ext cx="8277467" cy="4375386"/>
            </a:xfrm>
            <a:custGeom>
              <a:avLst/>
              <a:gdLst/>
              <a:ahLst/>
              <a:cxnLst/>
              <a:rect l="l" t="t" r="r" b="b"/>
              <a:pathLst>
                <a:path w="8277467" h="4375386">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9D9D93"/>
            </a:solidFill>
          </p:spPr>
          <p:txBody>
            <a:bodyPr/>
            <a:lstStyle/>
            <a:p>
              <a:endParaRPr lang="en-US"/>
            </a:p>
          </p:txBody>
        </p:sp>
      </p:grpSp>
      <p:grpSp>
        <p:nvGrpSpPr>
          <p:cNvPr id="4" name="Group 4"/>
          <p:cNvGrpSpPr/>
          <p:nvPr/>
        </p:nvGrpSpPr>
        <p:grpSpPr>
          <a:xfrm>
            <a:off x="9314986" y="0"/>
            <a:ext cx="8973014" cy="10287000"/>
            <a:chOff x="0" y="0"/>
            <a:chExt cx="994297" cy="1139900"/>
          </a:xfrm>
        </p:grpSpPr>
        <p:sp>
          <p:nvSpPr>
            <p:cNvPr id="5" name="Freeform 5"/>
            <p:cNvSpPr/>
            <p:nvPr/>
          </p:nvSpPr>
          <p:spPr>
            <a:xfrm>
              <a:off x="0" y="0"/>
              <a:ext cx="994297" cy="1139900"/>
            </a:xfrm>
            <a:custGeom>
              <a:avLst/>
              <a:gdLst/>
              <a:ahLst/>
              <a:cxnLst/>
              <a:rect l="l" t="t" r="r" b="b"/>
              <a:pathLst>
                <a:path w="994297" h="1139900">
                  <a:moveTo>
                    <a:pt x="0" y="0"/>
                  </a:moveTo>
                  <a:lnTo>
                    <a:pt x="994297" y="0"/>
                  </a:lnTo>
                  <a:lnTo>
                    <a:pt x="994297" y="1139900"/>
                  </a:lnTo>
                  <a:lnTo>
                    <a:pt x="0" y="1139900"/>
                  </a:lnTo>
                  <a:close/>
                </a:path>
              </a:pathLst>
            </a:custGeom>
            <a:blipFill>
              <a:blip r:embed="rId2"/>
              <a:stretch>
                <a:fillRect l="-51905" r="-51905"/>
              </a:stretch>
            </a:blipFill>
          </p:spPr>
          <p:txBody>
            <a:bodyPr/>
            <a:lstStyle/>
            <a:p>
              <a:endParaRPr lang="en-US"/>
            </a:p>
          </p:txBody>
        </p:sp>
      </p:grpSp>
      <p:grpSp>
        <p:nvGrpSpPr>
          <p:cNvPr id="6" name="Group 6"/>
          <p:cNvGrpSpPr/>
          <p:nvPr/>
        </p:nvGrpSpPr>
        <p:grpSpPr>
          <a:xfrm>
            <a:off x="-4340556" y="-5991330"/>
            <a:ext cx="16264828" cy="17611408"/>
            <a:chOff x="0" y="0"/>
            <a:chExt cx="21686438" cy="23481878"/>
          </a:xfrm>
        </p:grpSpPr>
        <p:sp>
          <p:nvSpPr>
            <p:cNvPr id="7" name="AutoShape 7"/>
            <p:cNvSpPr/>
            <p:nvPr/>
          </p:nvSpPr>
          <p:spPr>
            <a:xfrm>
              <a:off x="0" y="8079564"/>
              <a:ext cx="16878072" cy="13716000"/>
            </a:xfrm>
            <a:prstGeom prst="rect">
              <a:avLst/>
            </a:prstGeom>
            <a:solidFill>
              <a:srgbClr val="0F284D"/>
            </a:solidFill>
          </p:spPr>
          <p:txBody>
            <a:bodyPr/>
            <a:lstStyle/>
            <a:p>
              <a:endParaRPr lang="en-US"/>
            </a:p>
          </p:txBody>
        </p:sp>
        <p:sp>
          <p:nvSpPr>
            <p:cNvPr id="8" name="AutoShape 8"/>
            <p:cNvSpPr/>
            <p:nvPr/>
          </p:nvSpPr>
          <p:spPr>
            <a:xfrm rot="-782927">
              <a:off x="10574582" y="619085"/>
              <a:ext cx="8027892" cy="22243709"/>
            </a:xfrm>
            <a:prstGeom prst="rect">
              <a:avLst/>
            </a:prstGeom>
            <a:solidFill>
              <a:srgbClr val="0F284D"/>
            </a:solidFill>
          </p:spPr>
          <p:txBody>
            <a:bodyPr/>
            <a:lstStyle/>
            <a:p>
              <a:endParaRPr lang="en-US"/>
            </a:p>
          </p:txBody>
        </p:sp>
        <p:sp>
          <p:nvSpPr>
            <p:cNvPr id="9" name="AutoShape 9"/>
            <p:cNvSpPr/>
            <p:nvPr/>
          </p:nvSpPr>
          <p:spPr>
            <a:xfrm rot="-782927">
              <a:off x="18377448" y="6757873"/>
              <a:ext cx="1543571" cy="15814892"/>
            </a:xfrm>
            <a:prstGeom prst="rect">
              <a:avLst/>
            </a:prstGeom>
            <a:solidFill>
              <a:srgbClr val="2273C6"/>
            </a:solidFill>
          </p:spPr>
          <p:txBody>
            <a:bodyPr/>
            <a:lstStyle/>
            <a:p>
              <a:endParaRPr lang="en-US"/>
            </a:p>
          </p:txBody>
        </p:sp>
      </p:grpSp>
      <p:pic>
        <p:nvPicPr>
          <p:cNvPr id="10" name="Picture 10"/>
          <p:cNvPicPr>
            <a:picLocks noChangeAspect="1"/>
          </p:cNvPicPr>
          <p:nvPr/>
        </p:nvPicPr>
        <p:blipFill>
          <a:blip r:embed="rId3"/>
          <a:srcRect/>
          <a:stretch>
            <a:fillRect/>
          </a:stretch>
        </p:blipFill>
        <p:spPr>
          <a:xfrm>
            <a:off x="14884780" y="337670"/>
            <a:ext cx="2926639" cy="2779862"/>
          </a:xfrm>
          <a:prstGeom prst="rect">
            <a:avLst/>
          </a:prstGeom>
        </p:spPr>
      </p:pic>
      <p:sp>
        <p:nvSpPr>
          <p:cNvPr id="11" name="TextBox 11"/>
          <p:cNvSpPr txBox="1"/>
          <p:nvPr/>
        </p:nvSpPr>
        <p:spPr>
          <a:xfrm>
            <a:off x="435649" y="9120705"/>
            <a:ext cx="9237289" cy="370999"/>
          </a:xfrm>
          <a:prstGeom prst="rect">
            <a:avLst/>
          </a:prstGeom>
        </p:spPr>
        <p:txBody>
          <a:bodyPr lIns="0" tIns="0" rIns="0" bIns="0" rtlCol="0" anchor="t">
            <a:spAutoFit/>
          </a:bodyPr>
          <a:lstStyle/>
          <a:p>
            <a:pPr marL="0" lvl="0" indent="0" algn="l">
              <a:lnSpc>
                <a:spcPts val="3081"/>
              </a:lnSpc>
            </a:pPr>
            <a:endParaRPr lang="en-US" sz="2200" b="1" dirty="0">
              <a:solidFill>
                <a:srgbClr val="F5EFCF"/>
              </a:solidFill>
              <a:latin typeface="Canva Sans Bold"/>
              <a:ea typeface="Canva Sans Bold"/>
              <a:cs typeface="Canva Sans Bold"/>
              <a:sym typeface="Canva Sans Bold"/>
            </a:endParaRPr>
          </a:p>
        </p:txBody>
      </p:sp>
      <p:grpSp>
        <p:nvGrpSpPr>
          <p:cNvPr id="12" name="Group 12"/>
          <p:cNvGrpSpPr/>
          <p:nvPr/>
        </p:nvGrpSpPr>
        <p:grpSpPr>
          <a:xfrm>
            <a:off x="435649" y="1422985"/>
            <a:ext cx="9659354" cy="6717642"/>
            <a:chOff x="0" y="0"/>
            <a:chExt cx="12879139" cy="8956855"/>
          </a:xfrm>
        </p:grpSpPr>
        <p:sp>
          <p:nvSpPr>
            <p:cNvPr id="13" name="TextBox 13"/>
            <p:cNvSpPr txBox="1"/>
            <p:nvPr/>
          </p:nvSpPr>
          <p:spPr>
            <a:xfrm>
              <a:off x="0" y="-142875"/>
              <a:ext cx="12879139" cy="8343007"/>
            </a:xfrm>
            <a:prstGeom prst="rect">
              <a:avLst/>
            </a:prstGeom>
          </p:spPr>
          <p:txBody>
            <a:bodyPr lIns="0" tIns="0" rIns="0" bIns="0" rtlCol="0" anchor="t">
              <a:spAutoFit/>
            </a:bodyPr>
            <a:lstStyle/>
            <a:p>
              <a:pPr marL="0" lvl="0" indent="0" algn="l">
                <a:lnSpc>
                  <a:spcPts val="7985"/>
                </a:lnSpc>
              </a:pPr>
              <a:r>
                <a:rPr lang="en-US" sz="7259" spc="-653">
                  <a:solidFill>
                    <a:srgbClr val="F5EFCF"/>
                  </a:solidFill>
                  <a:latin typeface="Rundeck Texture"/>
                  <a:ea typeface="Rundeck Texture"/>
                  <a:cs typeface="Rundeck Texture"/>
                  <a:sym typeface="Rundeck Texture"/>
                </a:rPr>
                <a:t>REAL TIME WEATHER DATA RETRIEVAL,</a:t>
              </a:r>
            </a:p>
            <a:p>
              <a:pPr marL="0" lvl="0" indent="0" algn="l">
                <a:lnSpc>
                  <a:spcPts val="7985"/>
                </a:lnSpc>
              </a:pPr>
              <a:r>
                <a:rPr lang="en-US" sz="7259" spc="-653">
                  <a:solidFill>
                    <a:srgbClr val="F5EFCF"/>
                  </a:solidFill>
                  <a:latin typeface="Rundeck Texture"/>
                  <a:ea typeface="Rundeck Texture"/>
                  <a:cs typeface="Rundeck Texture"/>
                  <a:sym typeface="Rundeck Texture"/>
                </a:rPr>
                <a:t>VISUALIZATION &amp;</a:t>
              </a:r>
            </a:p>
            <a:p>
              <a:pPr marL="0" lvl="0" indent="0" algn="l">
                <a:lnSpc>
                  <a:spcPts val="7985"/>
                </a:lnSpc>
              </a:pPr>
              <a:r>
                <a:rPr lang="en-US" sz="7259" spc="-653">
                  <a:solidFill>
                    <a:srgbClr val="F5EFCF"/>
                  </a:solidFill>
                  <a:latin typeface="Rundeck Texture"/>
                  <a:ea typeface="Rundeck Texture"/>
                  <a:cs typeface="Rundeck Texture"/>
                  <a:sym typeface="Rundeck Texture"/>
                </a:rPr>
                <a:t> ANALYSIS</a:t>
              </a:r>
            </a:p>
            <a:p>
              <a:pPr marL="0" lvl="0" indent="0" algn="l">
                <a:lnSpc>
                  <a:spcPts val="7985"/>
                </a:lnSpc>
              </a:pPr>
              <a:r>
                <a:rPr lang="en-US" sz="7259" spc="-653">
                  <a:solidFill>
                    <a:srgbClr val="F5EFCF"/>
                  </a:solidFill>
                  <a:latin typeface="Rundeck Texture"/>
                  <a:ea typeface="Rundeck Texture"/>
                  <a:cs typeface="Rundeck Texture"/>
                  <a:sym typeface="Rundeck Texture"/>
                </a:rPr>
                <a:t>USING PYTHON</a:t>
              </a:r>
            </a:p>
          </p:txBody>
        </p:sp>
        <p:sp>
          <p:nvSpPr>
            <p:cNvPr id="14" name="TextBox 14"/>
            <p:cNvSpPr txBox="1"/>
            <p:nvPr/>
          </p:nvSpPr>
          <p:spPr>
            <a:xfrm>
              <a:off x="0" y="8472592"/>
              <a:ext cx="12874174" cy="484263"/>
            </a:xfrm>
            <a:prstGeom prst="rect">
              <a:avLst/>
            </a:prstGeom>
          </p:spPr>
          <p:txBody>
            <a:bodyPr lIns="0" tIns="0" rIns="0" bIns="0" rtlCol="0" anchor="t">
              <a:spAutoFit/>
            </a:bodyPr>
            <a:lstStyle/>
            <a:p>
              <a:pPr marL="0" lvl="0" indent="0" algn="l">
                <a:lnSpc>
                  <a:spcPts val="3081"/>
                </a:lnSpc>
              </a:pPr>
              <a:r>
                <a:rPr lang="en-US" sz="2200" b="1" dirty="0">
                  <a:solidFill>
                    <a:srgbClr val="F5EFCF"/>
                  </a:solidFill>
                  <a:latin typeface="Canva Sans Bold"/>
                  <a:ea typeface="Canva Sans Bold"/>
                  <a:cs typeface="Canva Sans Bold"/>
                  <a:sym typeface="Canva Sans Bold"/>
                </a:rPr>
                <a:t>Hmm... I wonder what the weather is like today? 🤔</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grpSp>
        <p:nvGrpSpPr>
          <p:cNvPr id="2" name="Group 2"/>
          <p:cNvGrpSpPr/>
          <p:nvPr/>
        </p:nvGrpSpPr>
        <p:grpSpPr>
          <a:xfrm>
            <a:off x="-3106928" y="0"/>
            <a:ext cx="12387786" cy="10727265"/>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8908" r="-8908"/>
              </a:stretch>
            </a:blipFill>
          </p:spPr>
          <p:txBody>
            <a:bodyPr/>
            <a:lstStyle/>
            <a:p>
              <a:endParaRPr lang="en-US"/>
            </a:p>
          </p:txBody>
        </p:sp>
      </p:grpSp>
      <p:grpSp>
        <p:nvGrpSpPr>
          <p:cNvPr id="4" name="Group 4"/>
          <p:cNvGrpSpPr/>
          <p:nvPr/>
        </p:nvGrpSpPr>
        <p:grpSpPr>
          <a:xfrm>
            <a:off x="9560257" y="1287302"/>
            <a:ext cx="8192276" cy="7712396"/>
            <a:chOff x="0" y="0"/>
            <a:chExt cx="10923035" cy="10283195"/>
          </a:xfrm>
        </p:grpSpPr>
        <p:sp>
          <p:nvSpPr>
            <p:cNvPr id="5" name="TextBox 5"/>
            <p:cNvSpPr txBox="1"/>
            <p:nvPr/>
          </p:nvSpPr>
          <p:spPr>
            <a:xfrm>
              <a:off x="0" y="95250"/>
              <a:ext cx="10923035" cy="3782483"/>
            </a:xfrm>
            <a:prstGeom prst="rect">
              <a:avLst/>
            </a:prstGeom>
          </p:spPr>
          <p:txBody>
            <a:bodyPr lIns="0" tIns="0" rIns="0" bIns="0" rtlCol="0" anchor="t">
              <a:spAutoFit/>
            </a:bodyPr>
            <a:lstStyle/>
            <a:p>
              <a:pPr marL="0" lvl="0" indent="0" algn="l">
                <a:lnSpc>
                  <a:spcPts val="10999"/>
                </a:lnSpc>
              </a:pPr>
              <a:r>
                <a:rPr lang="en-US" sz="9999" b="1">
                  <a:solidFill>
                    <a:srgbClr val="000000"/>
                  </a:solidFill>
                  <a:latin typeface="Canva Sans Bold"/>
                  <a:ea typeface="Canva Sans Bold"/>
                  <a:cs typeface="Canva Sans Bold"/>
                  <a:sym typeface="Canva Sans Bold"/>
                </a:rPr>
                <a:t>Table Of Contents</a:t>
              </a:r>
            </a:p>
          </p:txBody>
        </p:sp>
        <p:sp>
          <p:nvSpPr>
            <p:cNvPr id="6" name="TextBox 6"/>
            <p:cNvSpPr txBox="1"/>
            <p:nvPr/>
          </p:nvSpPr>
          <p:spPr>
            <a:xfrm>
              <a:off x="0" y="5680079"/>
              <a:ext cx="10923035" cy="4603116"/>
            </a:xfrm>
            <a:prstGeom prst="rect">
              <a:avLst/>
            </a:prstGeom>
          </p:spPr>
          <p:txBody>
            <a:bodyPr lIns="0" tIns="0" rIns="0" bIns="0" rtlCol="0" anchor="t">
              <a:spAutoFit/>
            </a:bodyPr>
            <a:lstStyle/>
            <a:p>
              <a:pPr marL="712465" lvl="1" indent="-356233" algn="l">
                <a:lnSpc>
                  <a:spcPts val="4619"/>
                </a:lnSpc>
                <a:buAutoNum type="arabicPeriod"/>
              </a:pPr>
              <a:r>
                <a:rPr lang="en-US" sz="3299">
                  <a:solidFill>
                    <a:srgbClr val="000000"/>
                  </a:solidFill>
                  <a:latin typeface="Canva Sans"/>
                  <a:ea typeface="Canva Sans"/>
                  <a:cs typeface="Canva Sans"/>
                  <a:sym typeface="Canva Sans"/>
                </a:rPr>
                <a:t>Introduction</a:t>
              </a:r>
            </a:p>
            <a:p>
              <a:pPr marL="712465" lvl="1" indent="-356233" algn="l">
                <a:lnSpc>
                  <a:spcPts val="4619"/>
                </a:lnSpc>
                <a:buAutoNum type="arabicPeriod"/>
              </a:pPr>
              <a:r>
                <a:rPr lang="en-US" sz="3299">
                  <a:solidFill>
                    <a:srgbClr val="000000"/>
                  </a:solidFill>
                  <a:latin typeface="Canva Sans"/>
                  <a:ea typeface="Canva Sans"/>
                  <a:cs typeface="Canva Sans"/>
                  <a:sym typeface="Canva Sans"/>
                </a:rPr>
                <a:t>Objectives</a:t>
              </a:r>
            </a:p>
            <a:p>
              <a:pPr marL="712465" lvl="1" indent="-356233" algn="l">
                <a:lnSpc>
                  <a:spcPts val="4619"/>
                </a:lnSpc>
                <a:buAutoNum type="arabicPeriod"/>
              </a:pPr>
              <a:r>
                <a:rPr lang="en-US" sz="3299">
                  <a:solidFill>
                    <a:srgbClr val="000000"/>
                  </a:solidFill>
                  <a:latin typeface="Canva Sans"/>
                  <a:ea typeface="Canva Sans"/>
                  <a:cs typeface="Canva Sans"/>
                  <a:sym typeface="Canva Sans"/>
                </a:rPr>
                <a:t>Modules</a:t>
              </a:r>
            </a:p>
            <a:p>
              <a:pPr marL="712465" lvl="1" indent="-356233" algn="l">
                <a:lnSpc>
                  <a:spcPts val="4619"/>
                </a:lnSpc>
                <a:buAutoNum type="arabicPeriod"/>
              </a:pPr>
              <a:r>
                <a:rPr lang="en-US" sz="3299">
                  <a:solidFill>
                    <a:srgbClr val="000000"/>
                  </a:solidFill>
                  <a:latin typeface="Canva Sans"/>
                  <a:ea typeface="Canva Sans"/>
                  <a:cs typeface="Canva Sans"/>
                  <a:sym typeface="Canva Sans"/>
                </a:rPr>
                <a:t>Source Code</a:t>
              </a:r>
            </a:p>
            <a:p>
              <a:pPr marL="712465" lvl="1" indent="-356233" algn="l">
                <a:lnSpc>
                  <a:spcPts val="4619"/>
                </a:lnSpc>
                <a:buAutoNum type="arabicPeriod"/>
              </a:pPr>
              <a:r>
                <a:rPr lang="en-US" sz="3299">
                  <a:solidFill>
                    <a:srgbClr val="000000"/>
                  </a:solidFill>
                  <a:latin typeface="Canva Sans"/>
                  <a:ea typeface="Canva Sans"/>
                  <a:cs typeface="Canva Sans"/>
                  <a:sym typeface="Canva Sans"/>
                </a:rPr>
                <a:t>Challenges Faced</a:t>
              </a:r>
            </a:p>
            <a:p>
              <a:pPr marL="712465" lvl="1" indent="-356233" algn="l">
                <a:lnSpc>
                  <a:spcPts val="4619"/>
                </a:lnSpc>
                <a:buAutoNum type="arabicPeriod"/>
              </a:pPr>
              <a:r>
                <a:rPr lang="en-US" sz="3299">
                  <a:solidFill>
                    <a:srgbClr val="000000"/>
                  </a:solidFill>
                  <a:latin typeface="Canva Sans"/>
                  <a:ea typeface="Canva Sans"/>
                  <a:cs typeface="Canva Sans"/>
                  <a:sym typeface="Canva Sans"/>
                </a:rPr>
                <a:t>Conclusion</a:t>
              </a:r>
            </a:p>
          </p:txBody>
        </p:sp>
        <p:sp>
          <p:nvSpPr>
            <p:cNvPr id="7" name="TextBox 7"/>
            <p:cNvSpPr txBox="1"/>
            <p:nvPr/>
          </p:nvSpPr>
          <p:spPr>
            <a:xfrm>
              <a:off x="0" y="4456644"/>
              <a:ext cx="10923035" cy="711200"/>
            </a:xfrm>
            <a:prstGeom prst="rect">
              <a:avLst/>
            </a:prstGeom>
          </p:spPr>
          <p:txBody>
            <a:bodyPr lIns="0" tIns="0" rIns="0" bIns="0" rtlCol="0" anchor="t">
              <a:spAutoFit/>
            </a:bodyPr>
            <a:lstStyle/>
            <a:p>
              <a:pPr marL="0" lvl="0" indent="0" algn="l">
                <a:lnSpc>
                  <a:spcPts val="4200"/>
                </a:lnSpc>
              </a:pPr>
              <a:endParaRPr/>
            </a:p>
          </p:txBody>
        </p:sp>
      </p:grpSp>
      <p:pic>
        <p:nvPicPr>
          <p:cNvPr id="8" name="Picture 8"/>
          <p:cNvPicPr>
            <a:picLocks noChangeAspect="1"/>
          </p:cNvPicPr>
          <p:nvPr/>
        </p:nvPicPr>
        <p:blipFill>
          <a:blip r:embed="rId3"/>
          <a:srcRect/>
          <a:stretch>
            <a:fillRect/>
          </a:stretch>
        </p:blipFill>
        <p:spPr>
          <a:xfrm>
            <a:off x="14052357" y="4047794"/>
            <a:ext cx="4047550" cy="42161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a:p>
        </p:txBody>
      </p:sp>
      <p:pic>
        <p:nvPicPr>
          <p:cNvPr id="3" name="Picture 3"/>
          <p:cNvPicPr>
            <a:picLocks noChangeAspect="1"/>
          </p:cNvPicPr>
          <p:nvPr/>
        </p:nvPicPr>
        <p:blipFill>
          <a:blip r:embed="rId3"/>
          <a:srcRect/>
          <a:stretch>
            <a:fillRect/>
          </a:stretch>
        </p:blipFill>
        <p:spPr>
          <a:xfrm>
            <a:off x="2488686" y="187998"/>
            <a:ext cx="11798814" cy="9911004"/>
          </a:xfrm>
          <a:prstGeom prst="rect">
            <a:avLst/>
          </a:prstGeom>
        </p:spPr>
      </p:pic>
      <p:sp>
        <p:nvSpPr>
          <p:cNvPr id="4" name="TextBox 4"/>
          <p:cNvSpPr txBox="1"/>
          <p:nvPr/>
        </p:nvSpPr>
        <p:spPr>
          <a:xfrm>
            <a:off x="4000500" y="2993421"/>
            <a:ext cx="10287000" cy="4780915"/>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Our Weather Monitoring and Visualization System </a:t>
            </a:r>
            <a:r>
              <a:rPr lang="en-US" sz="3399" b="1" u="sng">
                <a:solidFill>
                  <a:srgbClr val="FFFFFF"/>
                </a:solidFill>
                <a:latin typeface="Canva Sans Bold"/>
                <a:ea typeface="Canva Sans Bold"/>
                <a:cs typeface="Canva Sans Bold"/>
                <a:sym typeface="Canva Sans Bold"/>
              </a:rPr>
              <a:t>provides a comprehensive solution</a:t>
            </a:r>
            <a:r>
              <a:rPr lang="en-US" sz="3399" b="1">
                <a:solidFill>
                  <a:srgbClr val="FFFFFF"/>
                </a:solidFill>
                <a:latin typeface="Canva Sans Bold"/>
                <a:ea typeface="Canva Sans Bold"/>
                <a:cs typeface="Canva Sans Bold"/>
                <a:sym typeface="Canva Sans Bold"/>
              </a:rPr>
              <a:t> to </a:t>
            </a:r>
            <a:r>
              <a:rPr lang="en-US" sz="3399" b="1" u="sng">
                <a:solidFill>
                  <a:srgbClr val="FFFFFF"/>
                </a:solidFill>
                <a:latin typeface="Canva Sans Bold"/>
                <a:ea typeface="Canva Sans Bold"/>
                <a:cs typeface="Canva Sans Bold"/>
                <a:sym typeface="Canva Sans Bold"/>
              </a:rPr>
              <a:t>track and analyze real-time weather data</a:t>
            </a:r>
            <a:r>
              <a:rPr lang="en-US" sz="3399" b="1">
                <a:solidFill>
                  <a:srgbClr val="FFFFFF"/>
                </a:solidFill>
                <a:latin typeface="Canva Sans Bold"/>
                <a:ea typeface="Canva Sans Bold"/>
                <a:cs typeface="Canva Sans Bold"/>
                <a:sym typeface="Canva Sans Bold"/>
              </a:rPr>
              <a:t> from around the globe. This system leverages the </a:t>
            </a:r>
            <a:r>
              <a:rPr lang="en-US" sz="3399" b="1" u="sng">
                <a:solidFill>
                  <a:srgbClr val="FFFFFF"/>
                </a:solidFill>
                <a:latin typeface="Canva Sans Bold"/>
                <a:ea typeface="Canva Sans Bold"/>
                <a:cs typeface="Canva Sans Bold"/>
                <a:sym typeface="Canva Sans Bold"/>
              </a:rPr>
              <a:t>OpenWeather API</a:t>
            </a:r>
            <a:r>
              <a:rPr lang="en-US" sz="3399" b="1">
                <a:solidFill>
                  <a:srgbClr val="FFFFFF"/>
                </a:solidFill>
                <a:latin typeface="Canva Sans Bold"/>
                <a:ea typeface="Canva Sans Bold"/>
                <a:cs typeface="Canva Sans Bold"/>
                <a:sym typeface="Canva Sans Bold"/>
              </a:rPr>
              <a:t> to collect key meteorological information, such as temperature, humidity, wind speed, UV index, and more, for multiple cities worldwide.</a:t>
            </a:r>
          </a:p>
        </p:txBody>
      </p:sp>
      <p:sp>
        <p:nvSpPr>
          <p:cNvPr id="5" name="TextBox 5"/>
          <p:cNvSpPr txBox="1"/>
          <p:nvPr/>
        </p:nvSpPr>
        <p:spPr>
          <a:xfrm>
            <a:off x="4654940" y="347989"/>
            <a:ext cx="9565067" cy="1566544"/>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138118" y="-1463506"/>
            <a:ext cx="18426118" cy="12284079"/>
          </a:xfrm>
          <a:custGeom>
            <a:avLst/>
            <a:gdLst/>
            <a:ahLst/>
            <a:cxnLst/>
            <a:rect l="l" t="t" r="r" b="b"/>
            <a:pathLst>
              <a:path w="18426118" h="12284079">
                <a:moveTo>
                  <a:pt x="0" y="0"/>
                </a:moveTo>
                <a:lnTo>
                  <a:pt x="18426118" y="0"/>
                </a:lnTo>
                <a:lnTo>
                  <a:pt x="18426118" y="12284079"/>
                </a:lnTo>
                <a:lnTo>
                  <a:pt x="0" y="12284079"/>
                </a:lnTo>
                <a:lnTo>
                  <a:pt x="0" y="0"/>
                </a:lnTo>
                <a:close/>
              </a:path>
            </a:pathLst>
          </a:custGeom>
          <a:blipFill>
            <a:blip r:embed="rId2">
              <a:alphaModFix amt="68000"/>
            </a:blip>
            <a:stretch>
              <a:fillRect/>
            </a:stretch>
          </a:blipFill>
        </p:spPr>
        <p:txBody>
          <a:bodyPr/>
          <a:lstStyle/>
          <a:p>
            <a:endParaRPr lang="en-US"/>
          </a:p>
        </p:txBody>
      </p:sp>
      <p:sp>
        <p:nvSpPr>
          <p:cNvPr id="3" name="TextBox 3"/>
          <p:cNvSpPr txBox="1"/>
          <p:nvPr/>
        </p:nvSpPr>
        <p:spPr>
          <a:xfrm>
            <a:off x="0" y="319405"/>
            <a:ext cx="18288000" cy="958151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Additionally, the system utilizes several powerful libraries to visualize and enhance the data:</a:t>
            </a:r>
          </a:p>
          <a:p>
            <a:pPr marL="734059" lvl="1" indent="-367030" algn="ctr">
              <a:lnSpc>
                <a:spcPts val="4759"/>
              </a:lnSpc>
              <a:buFont typeface="Arial"/>
              <a:buChar char="•"/>
            </a:pPr>
            <a:r>
              <a:rPr lang="en-US" sz="3399" b="1" u="sng">
                <a:solidFill>
                  <a:srgbClr val="BC9C22"/>
                </a:solidFill>
                <a:latin typeface="Canva Sans Bold"/>
                <a:ea typeface="Canva Sans Bold"/>
                <a:cs typeface="Canva Sans Bold"/>
                <a:sym typeface="Canva Sans Bold"/>
              </a:rPr>
              <a:t>Folium</a:t>
            </a:r>
            <a:r>
              <a:rPr lang="en-US" sz="3399" b="1">
                <a:solidFill>
                  <a:srgbClr val="000000"/>
                </a:solidFill>
                <a:latin typeface="Canva Sans Bold"/>
                <a:ea typeface="Canva Sans Bold"/>
                <a:cs typeface="Canva Sans Bold"/>
                <a:sym typeface="Canva Sans Bold"/>
              </a:rPr>
              <a:t>: Used to create interactive weather maps, providing a visual representation of weather conditions in various cities. It allows users to explore weather data on a geographical map.</a:t>
            </a:r>
          </a:p>
          <a:p>
            <a:pPr marL="734059" lvl="1" indent="-367030" algn="ctr">
              <a:lnSpc>
                <a:spcPts val="4759"/>
              </a:lnSpc>
              <a:buFont typeface="Arial"/>
              <a:buChar char="•"/>
            </a:pPr>
            <a:r>
              <a:rPr lang="en-US" sz="3399" b="1" u="sng">
                <a:solidFill>
                  <a:srgbClr val="BC9C22"/>
                </a:solidFill>
                <a:latin typeface="Canva Sans Bold"/>
                <a:ea typeface="Canva Sans Bold"/>
                <a:cs typeface="Canva Sans Bold"/>
                <a:sym typeface="Canva Sans Bold"/>
              </a:rPr>
              <a:t>Plotly and Matplotlib:</a:t>
            </a:r>
            <a:r>
              <a:rPr lang="en-US" sz="3399" b="1">
                <a:solidFill>
                  <a:srgbClr val="000000"/>
                </a:solidFill>
                <a:latin typeface="Canva Sans Bold"/>
                <a:ea typeface="Canva Sans Bold"/>
                <a:cs typeface="Canva Sans Bold"/>
                <a:sym typeface="Canva Sans Bold"/>
              </a:rPr>
              <a:t> These libraries are used for data visualization, helping users compare and analyze temperature and humidity trends across different cities with bar and line charts.</a:t>
            </a:r>
          </a:p>
          <a:p>
            <a:pPr marL="734059" lvl="1" indent="-367030" algn="ctr">
              <a:lnSpc>
                <a:spcPts val="4759"/>
              </a:lnSpc>
              <a:buFont typeface="Arial"/>
              <a:buChar char="•"/>
            </a:pPr>
            <a:r>
              <a:rPr lang="en-US" sz="3399" b="1" u="sng">
                <a:solidFill>
                  <a:srgbClr val="BC9C22"/>
                </a:solidFill>
                <a:latin typeface="Canva Sans Bold"/>
                <a:ea typeface="Canva Sans Bold"/>
                <a:cs typeface="Canva Sans Bold"/>
                <a:sym typeface="Canva Sans Bold"/>
              </a:rPr>
              <a:t>Seaborn</a:t>
            </a:r>
            <a:r>
              <a:rPr lang="en-US" sz="3399" b="1">
                <a:solidFill>
                  <a:srgbClr val="000000"/>
                </a:solidFill>
                <a:latin typeface="Canva Sans Bold"/>
                <a:ea typeface="Canva Sans Bold"/>
                <a:cs typeface="Canva Sans Bold"/>
                <a:sym typeface="Canva Sans Bold"/>
              </a:rPr>
              <a:t>: A Python data visualization library based on Matplotlib, used to create aesthetically pleasing and informative plots of weather trends.</a:t>
            </a:r>
          </a:p>
          <a:p>
            <a:pPr marL="734059" lvl="1" indent="-367030" algn="ctr">
              <a:lnSpc>
                <a:spcPts val="4759"/>
              </a:lnSpc>
              <a:buFont typeface="Arial"/>
              <a:buChar char="•"/>
            </a:pPr>
            <a:r>
              <a:rPr lang="en-US" sz="3399" b="1" u="sng">
                <a:solidFill>
                  <a:srgbClr val="BC9C22"/>
                </a:solidFill>
                <a:latin typeface="Canva Sans Bold"/>
                <a:ea typeface="Canva Sans Bold"/>
                <a:cs typeface="Canva Sans Bold"/>
                <a:sym typeface="Canva Sans Bold"/>
              </a:rPr>
              <a:t>Schedule</a:t>
            </a:r>
            <a:r>
              <a:rPr lang="en-US" sz="3399" b="1">
                <a:solidFill>
                  <a:srgbClr val="000000"/>
                </a:solidFill>
                <a:latin typeface="Canva Sans Bold"/>
                <a:ea typeface="Canva Sans Bold"/>
                <a:cs typeface="Canva Sans Bold"/>
                <a:sym typeface="Canva Sans Bold"/>
              </a:rPr>
              <a:t>: This library automates the process of fetching and updating weather data at regular intervals, ensuring the system stays up-to-date without manual intervention.</a:t>
            </a:r>
          </a:p>
          <a:p>
            <a:pPr marL="734059" lvl="1" indent="-367030" algn="ctr">
              <a:lnSpc>
                <a:spcPts val="4759"/>
              </a:lnSpc>
              <a:buFont typeface="Arial"/>
              <a:buChar char="•"/>
            </a:pPr>
            <a:r>
              <a:rPr lang="en-US" sz="3399" b="1" u="sng">
                <a:solidFill>
                  <a:srgbClr val="BC9C22"/>
                </a:solidFill>
                <a:latin typeface="Canva Sans Bold"/>
                <a:ea typeface="Canva Sans Bold"/>
                <a:cs typeface="Canva Sans Bold"/>
                <a:sym typeface="Canva Sans Bold"/>
              </a:rPr>
              <a:t>Requests</a:t>
            </a:r>
            <a:r>
              <a:rPr lang="en-US" sz="3399" b="1">
                <a:solidFill>
                  <a:srgbClr val="000000"/>
                </a:solidFill>
                <a:latin typeface="Canva Sans Bold"/>
                <a:ea typeface="Canva Sans Bold"/>
                <a:cs typeface="Canva Sans Bold"/>
                <a:sym typeface="Canva Sans Bold"/>
              </a:rPr>
              <a:t>: This library is used to interact with the OpenWeather API, fetching weather data and handling HTTP requests.</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0"/>
            <a:ext cx="18511507" cy="10287000"/>
          </a:xfrm>
          <a:custGeom>
            <a:avLst/>
            <a:gdLst/>
            <a:ahLst/>
            <a:cxnLst/>
            <a:rect l="l" t="t" r="r" b="b"/>
            <a:pathLst>
              <a:path w="18511507" h="10287000">
                <a:moveTo>
                  <a:pt x="0" y="0"/>
                </a:moveTo>
                <a:lnTo>
                  <a:pt x="18511507" y="0"/>
                </a:lnTo>
                <a:lnTo>
                  <a:pt x="18511507" y="10287000"/>
                </a:lnTo>
                <a:lnTo>
                  <a:pt x="0" y="10287000"/>
                </a:lnTo>
                <a:lnTo>
                  <a:pt x="0" y="0"/>
                </a:lnTo>
                <a:close/>
              </a:path>
            </a:pathLst>
          </a:custGeom>
          <a:blipFill>
            <a:blip r:embed="rId2">
              <a:alphaModFix amt="93000"/>
            </a:blip>
            <a:stretch>
              <a:fillRect/>
            </a:stretch>
          </a:blipFill>
        </p:spPr>
        <p:txBody>
          <a:bodyPr/>
          <a:lstStyle/>
          <a:p>
            <a:endParaRPr lang="en-US"/>
          </a:p>
        </p:txBody>
      </p:sp>
      <p:sp>
        <p:nvSpPr>
          <p:cNvPr id="3" name="TextBox 3"/>
          <p:cNvSpPr txBox="1"/>
          <p:nvPr/>
        </p:nvSpPr>
        <p:spPr>
          <a:xfrm>
            <a:off x="6338026" y="1933693"/>
            <a:ext cx="11215296" cy="6292742"/>
          </a:xfrm>
          <a:prstGeom prst="rect">
            <a:avLst/>
          </a:prstGeom>
        </p:spPr>
        <p:txBody>
          <a:bodyPr lIns="0" tIns="0" rIns="0" bIns="0" rtlCol="0" anchor="t">
            <a:spAutoFit/>
          </a:bodyPr>
          <a:lstStyle/>
          <a:p>
            <a:pPr marL="594645" lvl="1" indent="-297323" algn="ctr">
              <a:lnSpc>
                <a:spcPts val="3855"/>
              </a:lnSpc>
              <a:buFont typeface="Arial"/>
              <a:buChar char="•"/>
            </a:pPr>
            <a:r>
              <a:rPr lang="en-US" sz="2754" b="1" u="sng">
                <a:solidFill>
                  <a:srgbClr val="FFFFFF"/>
                </a:solidFill>
                <a:latin typeface="Canva Sans Bold"/>
                <a:ea typeface="Canva Sans Bold"/>
                <a:cs typeface="Canva Sans Bold"/>
                <a:sym typeface="Canva Sans Bold"/>
              </a:rPr>
              <a:t>Real-time Weather Updates:</a:t>
            </a:r>
            <a:r>
              <a:rPr lang="en-US" sz="2754">
                <a:solidFill>
                  <a:srgbClr val="FFFFFF"/>
                </a:solidFill>
                <a:latin typeface="Canva Sans"/>
                <a:ea typeface="Canva Sans"/>
                <a:cs typeface="Canva Sans"/>
                <a:sym typeface="Canva Sans"/>
              </a:rPr>
              <a:t> The system regularly fetches current weather data, including temperature, wind speed, and weather conditions, for a variety of cities. It updates the weather information every 2 minutes, providing timely insights.</a:t>
            </a:r>
          </a:p>
          <a:p>
            <a:pPr marL="594645" lvl="1" indent="-297323" algn="ctr">
              <a:lnSpc>
                <a:spcPts val="3855"/>
              </a:lnSpc>
              <a:buFont typeface="Arial"/>
              <a:buChar char="•"/>
            </a:pPr>
            <a:r>
              <a:rPr lang="en-US" sz="2754" b="1" u="sng">
                <a:solidFill>
                  <a:srgbClr val="FFFFFF"/>
                </a:solidFill>
                <a:latin typeface="Canva Sans Bold"/>
                <a:ea typeface="Canva Sans Bold"/>
                <a:cs typeface="Canva Sans Bold"/>
                <a:sym typeface="Canva Sans Bold"/>
              </a:rPr>
              <a:t>Weather Forecasting:</a:t>
            </a:r>
            <a:r>
              <a:rPr lang="en-US" sz="2754">
                <a:solidFill>
                  <a:srgbClr val="FFFFFF"/>
                </a:solidFill>
                <a:latin typeface="Canva Sans"/>
                <a:ea typeface="Canva Sans"/>
                <a:cs typeface="Canva Sans"/>
                <a:sym typeface="Canva Sans"/>
              </a:rPr>
              <a:t> In addition to real-time data, the system also retrieves weather forecasts for specific cities.</a:t>
            </a:r>
          </a:p>
          <a:p>
            <a:pPr marL="594645" lvl="1" indent="-297323" algn="ctr">
              <a:lnSpc>
                <a:spcPts val="3855"/>
              </a:lnSpc>
              <a:buFont typeface="Arial"/>
              <a:buChar char="•"/>
            </a:pPr>
            <a:r>
              <a:rPr lang="en-US" sz="2754" b="1" u="sng">
                <a:solidFill>
                  <a:srgbClr val="FFFFFF"/>
                </a:solidFill>
                <a:latin typeface="Canva Sans Bold"/>
                <a:ea typeface="Canva Sans Bold"/>
                <a:cs typeface="Canva Sans Bold"/>
                <a:sym typeface="Canva Sans Bold"/>
              </a:rPr>
              <a:t>Interactive Weather Maps:</a:t>
            </a:r>
            <a:r>
              <a:rPr lang="en-US" sz="2754">
                <a:solidFill>
                  <a:srgbClr val="FFFFFF"/>
                </a:solidFill>
                <a:latin typeface="Canva Sans"/>
                <a:ea typeface="Canva Sans"/>
                <a:cs typeface="Canva Sans"/>
                <a:sym typeface="Canva Sans"/>
              </a:rPr>
              <a:t> Using Folium, the system creates interactive maps that visualize weather data for multiple cities.</a:t>
            </a:r>
          </a:p>
          <a:p>
            <a:pPr marL="594645" lvl="1" indent="-297323" algn="ctr">
              <a:lnSpc>
                <a:spcPts val="3855"/>
              </a:lnSpc>
              <a:buFont typeface="Arial"/>
              <a:buChar char="•"/>
            </a:pPr>
            <a:r>
              <a:rPr lang="en-US" sz="2754" b="1" u="sng">
                <a:solidFill>
                  <a:srgbClr val="FFFFFF"/>
                </a:solidFill>
                <a:latin typeface="Canva Sans Bold"/>
                <a:ea typeface="Canva Sans Bold"/>
                <a:cs typeface="Canva Sans Bold"/>
                <a:sym typeface="Canva Sans Bold"/>
              </a:rPr>
              <a:t>Temperature and Humidity Comparison: </a:t>
            </a:r>
            <a:r>
              <a:rPr lang="en-US" sz="2754">
                <a:solidFill>
                  <a:srgbClr val="FFFFFF"/>
                </a:solidFill>
                <a:latin typeface="Canva Sans"/>
                <a:ea typeface="Canva Sans"/>
                <a:cs typeface="Canva Sans"/>
                <a:sym typeface="Canva Sans"/>
              </a:rPr>
              <a:t>The application compares temperature and humidity levels across different cities using Plotly and Matplotlib.</a:t>
            </a:r>
          </a:p>
          <a:p>
            <a:pPr algn="ctr">
              <a:lnSpc>
                <a:spcPts val="3855"/>
              </a:lnSpc>
            </a:pPr>
            <a:endParaRPr lang="en-US" sz="2754">
              <a:solidFill>
                <a:srgbClr val="FFFFFF"/>
              </a:solidFill>
              <a:latin typeface="Canva Sans"/>
              <a:ea typeface="Canva Sans"/>
              <a:cs typeface="Canva Sans"/>
              <a:sym typeface="Canva Sans"/>
            </a:endParaRPr>
          </a:p>
        </p:txBody>
      </p:sp>
      <p:sp>
        <p:nvSpPr>
          <p:cNvPr id="4" name="Freeform 4"/>
          <p:cNvSpPr/>
          <p:nvPr/>
        </p:nvSpPr>
        <p:spPr>
          <a:xfrm>
            <a:off x="0" y="5785977"/>
            <a:ext cx="4891695" cy="4891695"/>
          </a:xfrm>
          <a:custGeom>
            <a:avLst/>
            <a:gdLst/>
            <a:ahLst/>
            <a:cxnLst/>
            <a:rect l="l" t="t" r="r" b="b"/>
            <a:pathLst>
              <a:path w="4891695" h="4891695">
                <a:moveTo>
                  <a:pt x="0" y="0"/>
                </a:moveTo>
                <a:lnTo>
                  <a:pt x="4891695" y="0"/>
                </a:lnTo>
                <a:lnTo>
                  <a:pt x="4891695" y="4891694"/>
                </a:lnTo>
                <a:lnTo>
                  <a:pt x="0" y="48916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568271" y="1094223"/>
            <a:ext cx="4339679"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Key Features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0"/>
            <a:ext cx="18511507" cy="10287000"/>
          </a:xfrm>
          <a:custGeom>
            <a:avLst/>
            <a:gdLst/>
            <a:ahLst/>
            <a:cxnLst/>
            <a:rect l="l" t="t" r="r" b="b"/>
            <a:pathLst>
              <a:path w="18511507" h="10287000">
                <a:moveTo>
                  <a:pt x="0" y="0"/>
                </a:moveTo>
                <a:lnTo>
                  <a:pt x="18511507" y="0"/>
                </a:lnTo>
                <a:lnTo>
                  <a:pt x="18511507" y="10287000"/>
                </a:lnTo>
                <a:lnTo>
                  <a:pt x="0" y="10287000"/>
                </a:lnTo>
                <a:lnTo>
                  <a:pt x="0" y="0"/>
                </a:lnTo>
                <a:close/>
              </a:path>
            </a:pathLst>
          </a:custGeom>
          <a:blipFill>
            <a:blip r:embed="rId2">
              <a:alphaModFix amt="87000"/>
            </a:blip>
            <a:stretch>
              <a:fillRect/>
            </a:stretch>
          </a:blipFill>
        </p:spPr>
        <p:txBody>
          <a:bodyPr/>
          <a:lstStyle/>
          <a:p>
            <a:endParaRPr lang="en-US"/>
          </a:p>
        </p:txBody>
      </p:sp>
      <p:sp>
        <p:nvSpPr>
          <p:cNvPr id="3" name="TextBox 3"/>
          <p:cNvSpPr txBox="1"/>
          <p:nvPr/>
        </p:nvSpPr>
        <p:spPr>
          <a:xfrm>
            <a:off x="7911467" y="1923141"/>
            <a:ext cx="10125627" cy="5605869"/>
          </a:xfrm>
          <a:prstGeom prst="rect">
            <a:avLst/>
          </a:prstGeom>
        </p:spPr>
        <p:txBody>
          <a:bodyPr lIns="0" tIns="0" rIns="0" bIns="0" rtlCol="0" anchor="t">
            <a:spAutoFit/>
          </a:bodyPr>
          <a:lstStyle/>
          <a:p>
            <a:pPr algn="ctr">
              <a:lnSpc>
                <a:spcPts val="4440"/>
              </a:lnSpc>
            </a:pPr>
            <a:r>
              <a:rPr lang="en-US" sz="3171">
                <a:solidFill>
                  <a:srgbClr val="FFFFFF"/>
                </a:solidFill>
                <a:latin typeface="Canva Sans"/>
                <a:ea typeface="Canva Sans"/>
                <a:cs typeface="Canva Sans"/>
                <a:sym typeface="Canva Sans"/>
              </a:rPr>
              <a:t>5. </a:t>
            </a:r>
            <a:r>
              <a:rPr lang="en-US" sz="3171" b="1" u="sng">
                <a:solidFill>
                  <a:srgbClr val="FFFFFF"/>
                </a:solidFill>
                <a:latin typeface="Canva Sans Bold"/>
                <a:ea typeface="Canva Sans Bold"/>
                <a:cs typeface="Canva Sans Bold"/>
                <a:sym typeface="Canva Sans Bold"/>
              </a:rPr>
              <a:t>Wind Chill and Sunlight Duration: </a:t>
            </a:r>
            <a:r>
              <a:rPr lang="en-US" sz="3171">
                <a:solidFill>
                  <a:srgbClr val="FFFFFF"/>
                </a:solidFill>
                <a:latin typeface="Canva Sans"/>
                <a:ea typeface="Canva Sans"/>
                <a:cs typeface="Canva Sans"/>
                <a:sym typeface="Canva Sans"/>
              </a:rPr>
              <a:t>The system calculates additional weather parameters, such as wind chill (for colder regions with higher wind speeds) and sunlight duration (the time between sunrise and sunset), providing more insights into daily weather conditions.</a:t>
            </a:r>
          </a:p>
          <a:p>
            <a:pPr algn="ctr">
              <a:lnSpc>
                <a:spcPts val="4440"/>
              </a:lnSpc>
            </a:pPr>
            <a:r>
              <a:rPr lang="en-US" sz="3171">
                <a:solidFill>
                  <a:srgbClr val="FFFFFF"/>
                </a:solidFill>
                <a:latin typeface="Canva Sans"/>
                <a:ea typeface="Canva Sans"/>
                <a:cs typeface="Canva Sans"/>
                <a:sym typeface="Canva Sans"/>
              </a:rPr>
              <a:t>6. </a:t>
            </a:r>
            <a:r>
              <a:rPr lang="en-US" sz="3171" b="1" u="sng">
                <a:solidFill>
                  <a:srgbClr val="FFFFFF"/>
                </a:solidFill>
                <a:latin typeface="Canva Sans Bold"/>
                <a:ea typeface="Canva Sans Bold"/>
                <a:cs typeface="Canva Sans Bold"/>
                <a:sym typeface="Canva Sans Bold"/>
              </a:rPr>
              <a:t>Data Logging: </a:t>
            </a:r>
            <a:r>
              <a:rPr lang="en-US" sz="3171">
                <a:solidFill>
                  <a:srgbClr val="FFFFFF"/>
                </a:solidFill>
                <a:latin typeface="Canva Sans"/>
                <a:ea typeface="Canva Sans"/>
                <a:cs typeface="Canva Sans"/>
                <a:sym typeface="Canva Sans"/>
              </a:rPr>
              <a:t>Every weather update is logged in a text file, which allows users to maintain a historical record of weather conditions.</a:t>
            </a:r>
          </a:p>
          <a:p>
            <a:pPr algn="ctr">
              <a:lnSpc>
                <a:spcPts val="4440"/>
              </a:lnSpc>
            </a:pPr>
            <a:endParaRPr lang="en-US" sz="3171">
              <a:solidFill>
                <a:srgbClr val="FFFFFF"/>
              </a:solidFill>
              <a:latin typeface="Canva Sans"/>
              <a:ea typeface="Canva Sans"/>
              <a:cs typeface="Canva Sans"/>
              <a:sym typeface="Canva Sans"/>
            </a:endParaRPr>
          </a:p>
        </p:txBody>
      </p:sp>
      <p:sp>
        <p:nvSpPr>
          <p:cNvPr id="4" name="Freeform 4"/>
          <p:cNvSpPr/>
          <p:nvPr/>
        </p:nvSpPr>
        <p:spPr>
          <a:xfrm>
            <a:off x="308864" y="376718"/>
            <a:ext cx="3003037" cy="3003037"/>
          </a:xfrm>
          <a:custGeom>
            <a:avLst/>
            <a:gdLst/>
            <a:ahLst/>
            <a:cxnLst/>
            <a:rect l="l" t="t" r="r" b="b"/>
            <a:pathLst>
              <a:path w="3003037" h="3003037">
                <a:moveTo>
                  <a:pt x="0" y="0"/>
                </a:moveTo>
                <a:lnTo>
                  <a:pt x="3003037" y="0"/>
                </a:lnTo>
                <a:lnTo>
                  <a:pt x="3003037" y="3003037"/>
                </a:lnTo>
                <a:lnTo>
                  <a:pt x="0" y="30030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0"/>
            <a:ext cx="19504998" cy="10453659"/>
          </a:xfrm>
          <a:custGeom>
            <a:avLst/>
            <a:gdLst/>
            <a:ahLst/>
            <a:cxnLst/>
            <a:rect l="l" t="t" r="r" b="b"/>
            <a:pathLst>
              <a:path w="19504998" h="10453659">
                <a:moveTo>
                  <a:pt x="0" y="0"/>
                </a:moveTo>
                <a:lnTo>
                  <a:pt x="19504998" y="0"/>
                </a:lnTo>
                <a:lnTo>
                  <a:pt x="19504998" y="10453659"/>
                </a:lnTo>
                <a:lnTo>
                  <a:pt x="0" y="10453659"/>
                </a:lnTo>
                <a:lnTo>
                  <a:pt x="0" y="0"/>
                </a:lnTo>
                <a:close/>
              </a:path>
            </a:pathLst>
          </a:custGeom>
          <a:blipFill>
            <a:blip r:embed="rId2"/>
            <a:stretch>
              <a:fillRect/>
            </a:stretch>
          </a:blipFill>
        </p:spPr>
        <p:txBody>
          <a:bodyPr/>
          <a:lstStyle/>
          <a:p>
            <a:endParaRPr lang="en-US"/>
          </a:p>
        </p:txBody>
      </p:sp>
      <p:sp>
        <p:nvSpPr>
          <p:cNvPr id="3" name="Freeform 3"/>
          <p:cNvSpPr/>
          <p:nvPr/>
        </p:nvSpPr>
        <p:spPr>
          <a:xfrm>
            <a:off x="0" y="463906"/>
            <a:ext cx="15332235" cy="7876936"/>
          </a:xfrm>
          <a:custGeom>
            <a:avLst/>
            <a:gdLst/>
            <a:ahLst/>
            <a:cxnLst/>
            <a:rect l="l" t="t" r="r" b="b"/>
            <a:pathLst>
              <a:path w="15332235" h="7876936">
                <a:moveTo>
                  <a:pt x="0" y="0"/>
                </a:moveTo>
                <a:lnTo>
                  <a:pt x="15332235" y="0"/>
                </a:lnTo>
                <a:lnTo>
                  <a:pt x="15332235" y="7876936"/>
                </a:lnTo>
                <a:lnTo>
                  <a:pt x="0" y="7876936"/>
                </a:lnTo>
                <a:lnTo>
                  <a:pt x="0" y="0"/>
                </a:lnTo>
                <a:close/>
              </a:path>
            </a:pathLst>
          </a:custGeom>
          <a:blipFill>
            <a:blip r:embed="rId3"/>
            <a:stretch>
              <a:fillRect/>
            </a:stretch>
          </a:blipFill>
        </p:spPr>
        <p:txBody>
          <a:bodyPr/>
          <a:lstStyle/>
          <a:p>
            <a:endParaRPr lang="en-US"/>
          </a:p>
        </p:txBody>
      </p:sp>
      <p:sp>
        <p:nvSpPr>
          <p:cNvPr id="4" name="Freeform 4"/>
          <p:cNvSpPr/>
          <p:nvPr/>
        </p:nvSpPr>
        <p:spPr>
          <a:xfrm>
            <a:off x="258924" y="8340842"/>
            <a:ext cx="13487572" cy="1365617"/>
          </a:xfrm>
          <a:custGeom>
            <a:avLst/>
            <a:gdLst/>
            <a:ahLst/>
            <a:cxnLst/>
            <a:rect l="l" t="t" r="r" b="b"/>
            <a:pathLst>
              <a:path w="13487572" h="1365617">
                <a:moveTo>
                  <a:pt x="0" y="0"/>
                </a:moveTo>
                <a:lnTo>
                  <a:pt x="13487571" y="0"/>
                </a:lnTo>
                <a:lnTo>
                  <a:pt x="13487571" y="1365616"/>
                </a:lnTo>
                <a:lnTo>
                  <a:pt x="0" y="1365616"/>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947631"/>
            <a:ext cx="18288000" cy="12182262"/>
          </a:xfrm>
          <a:custGeom>
            <a:avLst/>
            <a:gdLst/>
            <a:ahLst/>
            <a:cxnLst/>
            <a:rect l="l" t="t" r="r" b="b"/>
            <a:pathLst>
              <a:path w="18288000" h="12182262">
                <a:moveTo>
                  <a:pt x="0" y="0"/>
                </a:moveTo>
                <a:lnTo>
                  <a:pt x="18288000" y="0"/>
                </a:lnTo>
                <a:lnTo>
                  <a:pt x="18288000" y="12182262"/>
                </a:lnTo>
                <a:lnTo>
                  <a:pt x="0" y="12182262"/>
                </a:lnTo>
                <a:lnTo>
                  <a:pt x="0" y="0"/>
                </a:lnTo>
                <a:close/>
              </a:path>
            </a:pathLst>
          </a:custGeom>
          <a:blipFill>
            <a:blip r:embed="rId2"/>
            <a:stretch>
              <a:fillRect/>
            </a:stretch>
          </a:blipFill>
        </p:spPr>
        <p:txBody>
          <a:bodyPr/>
          <a:lstStyle/>
          <a:p>
            <a:endParaRPr lang="en-US"/>
          </a:p>
        </p:txBody>
      </p:sp>
      <p:sp>
        <p:nvSpPr>
          <p:cNvPr id="3" name="Freeform 3"/>
          <p:cNvSpPr/>
          <p:nvPr/>
        </p:nvSpPr>
        <p:spPr>
          <a:xfrm>
            <a:off x="185970" y="5568724"/>
            <a:ext cx="11301259" cy="4718276"/>
          </a:xfrm>
          <a:custGeom>
            <a:avLst/>
            <a:gdLst/>
            <a:ahLst/>
            <a:cxnLst/>
            <a:rect l="l" t="t" r="r" b="b"/>
            <a:pathLst>
              <a:path w="11301259" h="4718276">
                <a:moveTo>
                  <a:pt x="0" y="0"/>
                </a:moveTo>
                <a:lnTo>
                  <a:pt x="11301259" y="0"/>
                </a:lnTo>
                <a:lnTo>
                  <a:pt x="11301259" y="4718276"/>
                </a:lnTo>
                <a:lnTo>
                  <a:pt x="0" y="4718276"/>
                </a:lnTo>
                <a:lnTo>
                  <a:pt x="0" y="0"/>
                </a:lnTo>
                <a:close/>
              </a:path>
            </a:pathLst>
          </a:custGeom>
          <a:blipFill>
            <a:blip r:embed="rId3"/>
            <a:stretch>
              <a:fillRect/>
            </a:stretch>
          </a:blipFill>
        </p:spPr>
        <p:txBody>
          <a:bodyPr/>
          <a:lstStyle/>
          <a:p>
            <a:endParaRPr lang="en-US"/>
          </a:p>
        </p:txBody>
      </p:sp>
      <p:sp>
        <p:nvSpPr>
          <p:cNvPr id="4" name="Freeform 4"/>
          <p:cNvSpPr/>
          <p:nvPr/>
        </p:nvSpPr>
        <p:spPr>
          <a:xfrm>
            <a:off x="185970" y="184061"/>
            <a:ext cx="8026937" cy="3649768"/>
          </a:xfrm>
          <a:custGeom>
            <a:avLst/>
            <a:gdLst/>
            <a:ahLst/>
            <a:cxnLst/>
            <a:rect l="l" t="t" r="r" b="b"/>
            <a:pathLst>
              <a:path w="8026937" h="3649768">
                <a:moveTo>
                  <a:pt x="0" y="0"/>
                </a:moveTo>
                <a:lnTo>
                  <a:pt x="8026937" y="0"/>
                </a:lnTo>
                <a:lnTo>
                  <a:pt x="8026937" y="3649768"/>
                </a:lnTo>
                <a:lnTo>
                  <a:pt x="0" y="3649768"/>
                </a:lnTo>
                <a:lnTo>
                  <a:pt x="0" y="0"/>
                </a:lnTo>
                <a:close/>
              </a:path>
            </a:pathLst>
          </a:custGeom>
          <a:blipFill>
            <a:blip r:embed="rId4"/>
            <a:stretch>
              <a:fillRect/>
            </a:stretch>
          </a:blipFill>
        </p:spPr>
        <p:txBody>
          <a:bodyPr/>
          <a:lstStyle/>
          <a:p>
            <a:endParaRPr lang="en-US"/>
          </a:p>
        </p:txBody>
      </p:sp>
      <p:sp>
        <p:nvSpPr>
          <p:cNvPr id="5" name="Freeform 5"/>
          <p:cNvSpPr/>
          <p:nvPr/>
        </p:nvSpPr>
        <p:spPr>
          <a:xfrm>
            <a:off x="8709043" y="184061"/>
            <a:ext cx="8990152" cy="5512310"/>
          </a:xfrm>
          <a:custGeom>
            <a:avLst/>
            <a:gdLst/>
            <a:ahLst/>
            <a:cxnLst/>
            <a:rect l="l" t="t" r="r" b="b"/>
            <a:pathLst>
              <a:path w="8990152" h="5512310">
                <a:moveTo>
                  <a:pt x="0" y="0"/>
                </a:moveTo>
                <a:lnTo>
                  <a:pt x="8990152" y="0"/>
                </a:lnTo>
                <a:lnTo>
                  <a:pt x="8990152" y="5512310"/>
                </a:lnTo>
                <a:lnTo>
                  <a:pt x="0" y="5512310"/>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817565"/>
            <a:ext cx="18581779" cy="11922129"/>
          </a:xfrm>
          <a:custGeom>
            <a:avLst/>
            <a:gdLst/>
            <a:ahLst/>
            <a:cxnLst/>
            <a:rect l="l" t="t" r="r" b="b"/>
            <a:pathLst>
              <a:path w="18581779" h="11922129">
                <a:moveTo>
                  <a:pt x="0" y="0"/>
                </a:moveTo>
                <a:lnTo>
                  <a:pt x="18581779" y="0"/>
                </a:lnTo>
                <a:lnTo>
                  <a:pt x="18581779" y="11922130"/>
                </a:lnTo>
                <a:lnTo>
                  <a:pt x="0" y="11922130"/>
                </a:lnTo>
                <a:lnTo>
                  <a:pt x="0" y="0"/>
                </a:lnTo>
                <a:close/>
              </a:path>
            </a:pathLst>
          </a:custGeom>
          <a:blipFill>
            <a:blip r:embed="rId2"/>
            <a:stretch>
              <a:fillRect t="-1911" b="-1911"/>
            </a:stretch>
          </a:blipFill>
        </p:spPr>
        <p:txBody>
          <a:bodyPr/>
          <a:lstStyle/>
          <a:p>
            <a:endParaRPr lang="en-US"/>
          </a:p>
        </p:txBody>
      </p:sp>
      <p:sp>
        <p:nvSpPr>
          <p:cNvPr id="3" name="Freeform 3"/>
          <p:cNvSpPr/>
          <p:nvPr/>
        </p:nvSpPr>
        <p:spPr>
          <a:xfrm>
            <a:off x="300178" y="6554309"/>
            <a:ext cx="11301259" cy="2090733"/>
          </a:xfrm>
          <a:custGeom>
            <a:avLst/>
            <a:gdLst/>
            <a:ahLst/>
            <a:cxnLst/>
            <a:rect l="l" t="t" r="r" b="b"/>
            <a:pathLst>
              <a:path w="11301259" h="2090733">
                <a:moveTo>
                  <a:pt x="0" y="0"/>
                </a:moveTo>
                <a:lnTo>
                  <a:pt x="11301259" y="0"/>
                </a:lnTo>
                <a:lnTo>
                  <a:pt x="11301259" y="2090733"/>
                </a:lnTo>
                <a:lnTo>
                  <a:pt x="0" y="2090733"/>
                </a:lnTo>
                <a:lnTo>
                  <a:pt x="0" y="0"/>
                </a:lnTo>
                <a:close/>
              </a:path>
            </a:pathLst>
          </a:custGeom>
          <a:blipFill>
            <a:blip r:embed="rId3"/>
            <a:stretch>
              <a:fillRect/>
            </a:stretch>
          </a:blipFill>
        </p:spPr>
        <p:txBody>
          <a:bodyPr/>
          <a:lstStyle/>
          <a:p>
            <a:endParaRPr lang="en-US"/>
          </a:p>
        </p:txBody>
      </p:sp>
      <p:sp>
        <p:nvSpPr>
          <p:cNvPr id="4" name="Freeform 4"/>
          <p:cNvSpPr/>
          <p:nvPr/>
        </p:nvSpPr>
        <p:spPr>
          <a:xfrm>
            <a:off x="300178" y="153829"/>
            <a:ext cx="7651394" cy="6035037"/>
          </a:xfrm>
          <a:custGeom>
            <a:avLst/>
            <a:gdLst/>
            <a:ahLst/>
            <a:cxnLst/>
            <a:rect l="l" t="t" r="r" b="b"/>
            <a:pathLst>
              <a:path w="7651394" h="6035037">
                <a:moveTo>
                  <a:pt x="0" y="0"/>
                </a:moveTo>
                <a:lnTo>
                  <a:pt x="7651394" y="0"/>
                </a:lnTo>
                <a:lnTo>
                  <a:pt x="7651394" y="6035037"/>
                </a:lnTo>
                <a:lnTo>
                  <a:pt x="0" y="6035037"/>
                </a:lnTo>
                <a:lnTo>
                  <a:pt x="0" y="0"/>
                </a:lnTo>
                <a:close/>
              </a:path>
            </a:pathLst>
          </a:custGeom>
          <a:blipFill>
            <a:blip r:embed="rId4"/>
            <a:stretch>
              <a:fillRect/>
            </a:stretch>
          </a:blipFill>
        </p:spPr>
        <p:txBody>
          <a:bodyPr/>
          <a:lstStyle/>
          <a:p>
            <a:endParaRPr lang="en-US"/>
          </a:p>
        </p:txBody>
      </p:sp>
      <p:sp>
        <p:nvSpPr>
          <p:cNvPr id="5" name="Freeform 5"/>
          <p:cNvSpPr/>
          <p:nvPr/>
        </p:nvSpPr>
        <p:spPr>
          <a:xfrm>
            <a:off x="6618294" y="800603"/>
            <a:ext cx="11301259" cy="3489264"/>
          </a:xfrm>
          <a:custGeom>
            <a:avLst/>
            <a:gdLst/>
            <a:ahLst/>
            <a:cxnLst/>
            <a:rect l="l" t="t" r="r" b="b"/>
            <a:pathLst>
              <a:path w="11301259" h="3489264">
                <a:moveTo>
                  <a:pt x="0" y="0"/>
                </a:moveTo>
                <a:lnTo>
                  <a:pt x="11301259" y="0"/>
                </a:lnTo>
                <a:lnTo>
                  <a:pt x="11301259" y="3489264"/>
                </a:lnTo>
                <a:lnTo>
                  <a:pt x="0" y="3489264"/>
                </a:lnTo>
                <a:lnTo>
                  <a:pt x="0" y="0"/>
                </a:lnTo>
                <a:close/>
              </a:path>
            </a:pathLst>
          </a:custGeom>
          <a:blipFill>
            <a:blip r:embed="rId5"/>
            <a:stretch>
              <a:fillRect/>
            </a:stretch>
          </a:blipFill>
        </p:spPr>
        <p:txBody>
          <a:bodyPr/>
          <a:lstStyle/>
          <a:p>
            <a:endParaRPr lang="en-US"/>
          </a:p>
        </p:txBody>
      </p:sp>
      <p:sp>
        <p:nvSpPr>
          <p:cNvPr id="6" name="Freeform 6"/>
          <p:cNvSpPr/>
          <p:nvPr/>
        </p:nvSpPr>
        <p:spPr>
          <a:xfrm>
            <a:off x="6618294" y="4438315"/>
            <a:ext cx="11301259" cy="1963594"/>
          </a:xfrm>
          <a:custGeom>
            <a:avLst/>
            <a:gdLst/>
            <a:ahLst/>
            <a:cxnLst/>
            <a:rect l="l" t="t" r="r" b="b"/>
            <a:pathLst>
              <a:path w="11301259" h="1963594">
                <a:moveTo>
                  <a:pt x="0" y="0"/>
                </a:moveTo>
                <a:lnTo>
                  <a:pt x="11301259" y="0"/>
                </a:lnTo>
                <a:lnTo>
                  <a:pt x="11301259" y="1963594"/>
                </a:lnTo>
                <a:lnTo>
                  <a:pt x="0" y="1963594"/>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178542" y="-196327"/>
            <a:ext cx="18466542" cy="10483327"/>
          </a:xfrm>
          <a:custGeom>
            <a:avLst/>
            <a:gdLst/>
            <a:ahLst/>
            <a:cxnLst/>
            <a:rect l="l" t="t" r="r" b="b"/>
            <a:pathLst>
              <a:path w="18466542" h="10483327">
                <a:moveTo>
                  <a:pt x="0" y="0"/>
                </a:moveTo>
                <a:lnTo>
                  <a:pt x="18466542" y="0"/>
                </a:lnTo>
                <a:lnTo>
                  <a:pt x="18466542" y="10483327"/>
                </a:lnTo>
                <a:lnTo>
                  <a:pt x="0" y="10483327"/>
                </a:lnTo>
                <a:lnTo>
                  <a:pt x="0" y="0"/>
                </a:lnTo>
                <a:close/>
              </a:path>
            </a:pathLst>
          </a:custGeom>
          <a:blipFill>
            <a:blip r:embed="rId2"/>
            <a:stretch>
              <a:fillRect t="-8670" b="-8670"/>
            </a:stretch>
          </a:blipFill>
        </p:spPr>
        <p:txBody>
          <a:bodyPr/>
          <a:lstStyle/>
          <a:p>
            <a:endParaRPr lang="en-US"/>
          </a:p>
        </p:txBody>
      </p:sp>
      <p:sp>
        <p:nvSpPr>
          <p:cNvPr id="3" name="Freeform 3"/>
          <p:cNvSpPr/>
          <p:nvPr/>
        </p:nvSpPr>
        <p:spPr>
          <a:xfrm>
            <a:off x="404839" y="442447"/>
            <a:ext cx="13393110" cy="1389535"/>
          </a:xfrm>
          <a:custGeom>
            <a:avLst/>
            <a:gdLst/>
            <a:ahLst/>
            <a:cxnLst/>
            <a:rect l="l" t="t" r="r" b="b"/>
            <a:pathLst>
              <a:path w="13393110" h="1389535">
                <a:moveTo>
                  <a:pt x="0" y="0"/>
                </a:moveTo>
                <a:lnTo>
                  <a:pt x="13393109" y="0"/>
                </a:lnTo>
                <a:lnTo>
                  <a:pt x="13393109" y="1389535"/>
                </a:lnTo>
                <a:lnTo>
                  <a:pt x="0" y="1389535"/>
                </a:lnTo>
                <a:lnTo>
                  <a:pt x="0" y="0"/>
                </a:lnTo>
                <a:close/>
              </a:path>
            </a:pathLst>
          </a:custGeom>
          <a:blipFill>
            <a:blip r:embed="rId3"/>
            <a:stretch>
              <a:fillRect/>
            </a:stretch>
          </a:blipFill>
        </p:spPr>
        <p:txBody>
          <a:bodyPr/>
          <a:lstStyle/>
          <a:p>
            <a:endParaRPr lang="en-US"/>
          </a:p>
        </p:txBody>
      </p:sp>
      <p:sp>
        <p:nvSpPr>
          <p:cNvPr id="4" name="Freeform 4"/>
          <p:cNvSpPr/>
          <p:nvPr/>
        </p:nvSpPr>
        <p:spPr>
          <a:xfrm>
            <a:off x="404839" y="2024956"/>
            <a:ext cx="10819002" cy="1814162"/>
          </a:xfrm>
          <a:custGeom>
            <a:avLst/>
            <a:gdLst/>
            <a:ahLst/>
            <a:cxnLst/>
            <a:rect l="l" t="t" r="r" b="b"/>
            <a:pathLst>
              <a:path w="10819002" h="1814162">
                <a:moveTo>
                  <a:pt x="0" y="0"/>
                </a:moveTo>
                <a:lnTo>
                  <a:pt x="10819002" y="0"/>
                </a:lnTo>
                <a:lnTo>
                  <a:pt x="10819002" y="1814162"/>
                </a:lnTo>
                <a:lnTo>
                  <a:pt x="0" y="1814162"/>
                </a:lnTo>
                <a:lnTo>
                  <a:pt x="0" y="0"/>
                </a:lnTo>
                <a:close/>
              </a:path>
            </a:pathLst>
          </a:custGeom>
          <a:blipFill>
            <a:blip r:embed="rId4"/>
            <a:stretch>
              <a:fillRect/>
            </a:stretch>
          </a:blipFill>
        </p:spPr>
        <p:txBody>
          <a:bodyPr/>
          <a:lstStyle/>
          <a:p>
            <a:endParaRPr lang="en-US"/>
          </a:p>
        </p:txBody>
      </p:sp>
      <p:sp>
        <p:nvSpPr>
          <p:cNvPr id="5" name="Freeform 5"/>
          <p:cNvSpPr/>
          <p:nvPr/>
        </p:nvSpPr>
        <p:spPr>
          <a:xfrm>
            <a:off x="404839" y="4029618"/>
            <a:ext cx="7448292" cy="6079669"/>
          </a:xfrm>
          <a:custGeom>
            <a:avLst/>
            <a:gdLst/>
            <a:ahLst/>
            <a:cxnLst/>
            <a:rect l="l" t="t" r="r" b="b"/>
            <a:pathLst>
              <a:path w="7448292" h="6079669">
                <a:moveTo>
                  <a:pt x="0" y="0"/>
                </a:moveTo>
                <a:lnTo>
                  <a:pt x="7448292" y="0"/>
                </a:lnTo>
                <a:lnTo>
                  <a:pt x="7448292" y="6079669"/>
                </a:lnTo>
                <a:lnTo>
                  <a:pt x="0" y="6079669"/>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1002959"/>
            <a:ext cx="18550926" cy="11903811"/>
          </a:xfrm>
          <a:custGeom>
            <a:avLst/>
            <a:gdLst/>
            <a:ahLst/>
            <a:cxnLst/>
            <a:rect l="l" t="t" r="r" b="b"/>
            <a:pathLst>
              <a:path w="18550926" h="11903811">
                <a:moveTo>
                  <a:pt x="0" y="0"/>
                </a:moveTo>
                <a:lnTo>
                  <a:pt x="18550926" y="0"/>
                </a:lnTo>
                <a:lnTo>
                  <a:pt x="18550926" y="11903812"/>
                </a:lnTo>
                <a:lnTo>
                  <a:pt x="0" y="11903812"/>
                </a:lnTo>
                <a:lnTo>
                  <a:pt x="0" y="0"/>
                </a:lnTo>
                <a:close/>
              </a:path>
            </a:pathLst>
          </a:custGeom>
          <a:blipFill>
            <a:blip r:embed="rId2"/>
            <a:stretch>
              <a:fillRect t="-1905" b="-1905"/>
            </a:stretch>
          </a:blipFill>
        </p:spPr>
        <p:txBody>
          <a:bodyPr/>
          <a:lstStyle/>
          <a:p>
            <a:endParaRPr lang="en-US"/>
          </a:p>
        </p:txBody>
      </p:sp>
      <p:sp>
        <p:nvSpPr>
          <p:cNvPr id="3" name="Freeform 3"/>
          <p:cNvSpPr/>
          <p:nvPr/>
        </p:nvSpPr>
        <p:spPr>
          <a:xfrm>
            <a:off x="380519" y="483075"/>
            <a:ext cx="11301259" cy="5424604"/>
          </a:xfrm>
          <a:custGeom>
            <a:avLst/>
            <a:gdLst/>
            <a:ahLst/>
            <a:cxnLst/>
            <a:rect l="l" t="t" r="r" b="b"/>
            <a:pathLst>
              <a:path w="11301259" h="5424604">
                <a:moveTo>
                  <a:pt x="0" y="0"/>
                </a:moveTo>
                <a:lnTo>
                  <a:pt x="11301259" y="0"/>
                </a:lnTo>
                <a:lnTo>
                  <a:pt x="11301259" y="5424605"/>
                </a:lnTo>
                <a:lnTo>
                  <a:pt x="0" y="5424605"/>
                </a:lnTo>
                <a:lnTo>
                  <a:pt x="0" y="0"/>
                </a:lnTo>
                <a:close/>
              </a:path>
            </a:pathLst>
          </a:custGeom>
          <a:blipFill>
            <a:blip r:embed="rId3"/>
            <a:stretch>
              <a:fillRect/>
            </a:stretch>
          </a:blipFill>
        </p:spPr>
        <p:txBody>
          <a:bodyPr/>
          <a:lstStyle/>
          <a:p>
            <a:endParaRPr lang="en-US"/>
          </a:p>
        </p:txBody>
      </p:sp>
      <p:sp>
        <p:nvSpPr>
          <p:cNvPr id="4" name="Freeform 4"/>
          <p:cNvSpPr/>
          <p:nvPr/>
        </p:nvSpPr>
        <p:spPr>
          <a:xfrm>
            <a:off x="380519" y="6099814"/>
            <a:ext cx="11301259" cy="3729415"/>
          </a:xfrm>
          <a:custGeom>
            <a:avLst/>
            <a:gdLst/>
            <a:ahLst/>
            <a:cxnLst/>
            <a:rect l="l" t="t" r="r" b="b"/>
            <a:pathLst>
              <a:path w="11301259" h="3729415">
                <a:moveTo>
                  <a:pt x="0" y="0"/>
                </a:moveTo>
                <a:lnTo>
                  <a:pt x="11301259" y="0"/>
                </a:lnTo>
                <a:lnTo>
                  <a:pt x="11301259" y="3729415"/>
                </a:lnTo>
                <a:lnTo>
                  <a:pt x="0" y="3729415"/>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289334" y="-857263"/>
            <a:ext cx="18866668" cy="11497010"/>
          </a:xfrm>
          <a:custGeom>
            <a:avLst/>
            <a:gdLst/>
            <a:ahLst/>
            <a:cxnLst/>
            <a:rect l="l" t="t" r="r" b="b"/>
            <a:pathLst>
              <a:path w="18866668" h="11497010">
                <a:moveTo>
                  <a:pt x="0" y="0"/>
                </a:moveTo>
                <a:lnTo>
                  <a:pt x="18866668" y="0"/>
                </a:lnTo>
                <a:lnTo>
                  <a:pt x="18866668" y="11497010"/>
                </a:lnTo>
                <a:lnTo>
                  <a:pt x="0" y="11497010"/>
                </a:lnTo>
                <a:lnTo>
                  <a:pt x="0" y="0"/>
                </a:lnTo>
                <a:close/>
              </a:path>
            </a:pathLst>
          </a:custGeom>
          <a:blipFill>
            <a:blip r:embed="rId2"/>
            <a:stretch>
              <a:fillRect t="-4656" b="-4656"/>
            </a:stretch>
          </a:blipFill>
        </p:spPr>
        <p:txBody>
          <a:bodyPr/>
          <a:lstStyle/>
          <a:p>
            <a:endParaRPr lang="en-US"/>
          </a:p>
        </p:txBody>
      </p:sp>
      <p:sp>
        <p:nvSpPr>
          <p:cNvPr id="3" name="Freeform 3"/>
          <p:cNvSpPr/>
          <p:nvPr/>
        </p:nvSpPr>
        <p:spPr>
          <a:xfrm>
            <a:off x="824964" y="668024"/>
            <a:ext cx="10438653" cy="8037762"/>
          </a:xfrm>
          <a:custGeom>
            <a:avLst/>
            <a:gdLst/>
            <a:ahLst/>
            <a:cxnLst/>
            <a:rect l="l" t="t" r="r" b="b"/>
            <a:pathLst>
              <a:path w="10438653" h="8037762">
                <a:moveTo>
                  <a:pt x="0" y="0"/>
                </a:moveTo>
                <a:lnTo>
                  <a:pt x="10438653" y="0"/>
                </a:lnTo>
                <a:lnTo>
                  <a:pt x="10438653" y="8037762"/>
                </a:lnTo>
                <a:lnTo>
                  <a:pt x="0" y="803776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834270"/>
            <a:ext cx="18577653" cy="11559927"/>
          </a:xfrm>
          <a:custGeom>
            <a:avLst/>
            <a:gdLst/>
            <a:ahLst/>
            <a:cxnLst/>
            <a:rect l="l" t="t" r="r" b="b"/>
            <a:pathLst>
              <a:path w="18577653" h="11559927">
                <a:moveTo>
                  <a:pt x="0" y="0"/>
                </a:moveTo>
                <a:lnTo>
                  <a:pt x="18577653" y="0"/>
                </a:lnTo>
                <a:lnTo>
                  <a:pt x="18577653" y="11559927"/>
                </a:lnTo>
                <a:lnTo>
                  <a:pt x="0" y="11559927"/>
                </a:lnTo>
                <a:lnTo>
                  <a:pt x="0" y="0"/>
                </a:lnTo>
                <a:close/>
              </a:path>
            </a:pathLst>
          </a:custGeom>
          <a:blipFill>
            <a:blip r:embed="rId2"/>
            <a:stretch>
              <a:fillRect t="-3526" b="-3526"/>
            </a:stretch>
          </a:blipFill>
        </p:spPr>
        <p:txBody>
          <a:bodyPr/>
          <a:lstStyle/>
          <a:p>
            <a:endParaRPr lang="en-US"/>
          </a:p>
        </p:txBody>
      </p:sp>
      <p:sp>
        <p:nvSpPr>
          <p:cNvPr id="3" name="Freeform 3"/>
          <p:cNvSpPr/>
          <p:nvPr/>
        </p:nvSpPr>
        <p:spPr>
          <a:xfrm>
            <a:off x="539548" y="3745240"/>
            <a:ext cx="7512709" cy="5958009"/>
          </a:xfrm>
          <a:custGeom>
            <a:avLst/>
            <a:gdLst/>
            <a:ahLst/>
            <a:cxnLst/>
            <a:rect l="l" t="t" r="r" b="b"/>
            <a:pathLst>
              <a:path w="7512709" h="5958009">
                <a:moveTo>
                  <a:pt x="0" y="0"/>
                </a:moveTo>
                <a:lnTo>
                  <a:pt x="7512709" y="0"/>
                </a:lnTo>
                <a:lnTo>
                  <a:pt x="7512709" y="5958009"/>
                </a:lnTo>
                <a:lnTo>
                  <a:pt x="0" y="5958009"/>
                </a:lnTo>
                <a:lnTo>
                  <a:pt x="0" y="0"/>
                </a:lnTo>
                <a:close/>
              </a:path>
            </a:pathLst>
          </a:custGeom>
          <a:blipFill>
            <a:blip r:embed="rId3"/>
            <a:stretch>
              <a:fillRect/>
            </a:stretch>
          </a:blipFill>
        </p:spPr>
        <p:txBody>
          <a:bodyPr/>
          <a:lstStyle/>
          <a:p>
            <a:endParaRPr lang="en-US"/>
          </a:p>
        </p:txBody>
      </p:sp>
      <p:sp>
        <p:nvSpPr>
          <p:cNvPr id="4" name="Freeform 4"/>
          <p:cNvSpPr/>
          <p:nvPr/>
        </p:nvSpPr>
        <p:spPr>
          <a:xfrm>
            <a:off x="4636371" y="576148"/>
            <a:ext cx="11301259" cy="4124960"/>
          </a:xfrm>
          <a:custGeom>
            <a:avLst/>
            <a:gdLst/>
            <a:ahLst/>
            <a:cxnLst/>
            <a:rect l="l" t="t" r="r" b="b"/>
            <a:pathLst>
              <a:path w="11301259" h="4124960">
                <a:moveTo>
                  <a:pt x="0" y="0"/>
                </a:moveTo>
                <a:lnTo>
                  <a:pt x="11301258" y="0"/>
                </a:lnTo>
                <a:lnTo>
                  <a:pt x="11301258" y="4124959"/>
                </a:lnTo>
                <a:lnTo>
                  <a:pt x="0" y="4124959"/>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960688"/>
            <a:ext cx="18288000" cy="12182262"/>
          </a:xfrm>
          <a:custGeom>
            <a:avLst/>
            <a:gdLst/>
            <a:ahLst/>
            <a:cxnLst/>
            <a:rect l="l" t="t" r="r" b="b"/>
            <a:pathLst>
              <a:path w="18288000" h="12182262">
                <a:moveTo>
                  <a:pt x="0" y="0"/>
                </a:moveTo>
                <a:lnTo>
                  <a:pt x="18288000" y="0"/>
                </a:lnTo>
                <a:lnTo>
                  <a:pt x="18288000" y="12182262"/>
                </a:lnTo>
                <a:lnTo>
                  <a:pt x="0" y="12182262"/>
                </a:lnTo>
                <a:lnTo>
                  <a:pt x="0" y="0"/>
                </a:lnTo>
                <a:close/>
              </a:path>
            </a:pathLst>
          </a:custGeom>
          <a:blipFill>
            <a:blip r:embed="rId2"/>
            <a:stretch>
              <a:fillRect/>
            </a:stretch>
          </a:blipFill>
        </p:spPr>
        <p:txBody>
          <a:bodyPr/>
          <a:lstStyle/>
          <a:p>
            <a:endParaRPr lang="en-US"/>
          </a:p>
        </p:txBody>
      </p:sp>
      <p:sp>
        <p:nvSpPr>
          <p:cNvPr id="3" name="Freeform 3"/>
          <p:cNvSpPr/>
          <p:nvPr/>
        </p:nvSpPr>
        <p:spPr>
          <a:xfrm>
            <a:off x="258924" y="353026"/>
            <a:ext cx="9627037" cy="4777417"/>
          </a:xfrm>
          <a:custGeom>
            <a:avLst/>
            <a:gdLst/>
            <a:ahLst/>
            <a:cxnLst/>
            <a:rect l="l" t="t" r="r" b="b"/>
            <a:pathLst>
              <a:path w="9627037" h="4777417">
                <a:moveTo>
                  <a:pt x="0" y="0"/>
                </a:moveTo>
                <a:lnTo>
                  <a:pt x="9627037" y="0"/>
                </a:lnTo>
                <a:lnTo>
                  <a:pt x="9627037" y="4777417"/>
                </a:lnTo>
                <a:lnTo>
                  <a:pt x="0" y="4777417"/>
                </a:lnTo>
                <a:lnTo>
                  <a:pt x="0" y="0"/>
                </a:lnTo>
                <a:close/>
              </a:path>
            </a:pathLst>
          </a:custGeom>
          <a:blipFill>
            <a:blip r:embed="rId3"/>
            <a:stretch>
              <a:fillRect/>
            </a:stretch>
          </a:blipFill>
        </p:spPr>
        <p:txBody>
          <a:bodyPr/>
          <a:lstStyle/>
          <a:p>
            <a:endParaRPr lang="en-US"/>
          </a:p>
        </p:txBody>
      </p:sp>
      <p:sp>
        <p:nvSpPr>
          <p:cNvPr id="4" name="Freeform 4"/>
          <p:cNvSpPr/>
          <p:nvPr/>
        </p:nvSpPr>
        <p:spPr>
          <a:xfrm>
            <a:off x="8711331" y="3839633"/>
            <a:ext cx="8939296" cy="5623309"/>
          </a:xfrm>
          <a:custGeom>
            <a:avLst/>
            <a:gdLst/>
            <a:ahLst/>
            <a:cxnLst/>
            <a:rect l="l" t="t" r="r" b="b"/>
            <a:pathLst>
              <a:path w="8939296" h="5623309">
                <a:moveTo>
                  <a:pt x="0" y="0"/>
                </a:moveTo>
                <a:lnTo>
                  <a:pt x="8939296" y="0"/>
                </a:lnTo>
                <a:lnTo>
                  <a:pt x="8939296" y="5623309"/>
                </a:lnTo>
                <a:lnTo>
                  <a:pt x="0" y="5623309"/>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49123" y="-201944"/>
            <a:ext cx="18238877" cy="10690887"/>
          </a:xfrm>
          <a:custGeom>
            <a:avLst/>
            <a:gdLst/>
            <a:ahLst/>
            <a:cxnLst/>
            <a:rect l="l" t="t" r="r" b="b"/>
            <a:pathLst>
              <a:path w="18238877" h="10690887">
                <a:moveTo>
                  <a:pt x="0" y="0"/>
                </a:moveTo>
                <a:lnTo>
                  <a:pt x="18238877" y="0"/>
                </a:lnTo>
                <a:lnTo>
                  <a:pt x="18238877" y="10690888"/>
                </a:lnTo>
                <a:lnTo>
                  <a:pt x="0" y="10690888"/>
                </a:lnTo>
                <a:lnTo>
                  <a:pt x="0" y="0"/>
                </a:lnTo>
                <a:close/>
              </a:path>
            </a:pathLst>
          </a:custGeom>
          <a:blipFill>
            <a:blip r:embed="rId2"/>
            <a:stretch>
              <a:fillRect t="-6821" b="-6821"/>
            </a:stretch>
          </a:blipFill>
        </p:spPr>
        <p:txBody>
          <a:bodyPr/>
          <a:lstStyle/>
          <a:p>
            <a:endParaRPr lang="en-US"/>
          </a:p>
        </p:txBody>
      </p:sp>
      <p:sp>
        <p:nvSpPr>
          <p:cNvPr id="3" name="Freeform 3"/>
          <p:cNvSpPr/>
          <p:nvPr/>
        </p:nvSpPr>
        <p:spPr>
          <a:xfrm>
            <a:off x="353962" y="672665"/>
            <a:ext cx="7339435" cy="7272539"/>
          </a:xfrm>
          <a:custGeom>
            <a:avLst/>
            <a:gdLst/>
            <a:ahLst/>
            <a:cxnLst/>
            <a:rect l="l" t="t" r="r" b="b"/>
            <a:pathLst>
              <a:path w="7339435" h="7272539">
                <a:moveTo>
                  <a:pt x="0" y="0"/>
                </a:moveTo>
                <a:lnTo>
                  <a:pt x="7339435" y="0"/>
                </a:lnTo>
                <a:lnTo>
                  <a:pt x="7339435" y="7272539"/>
                </a:lnTo>
                <a:lnTo>
                  <a:pt x="0" y="7272539"/>
                </a:lnTo>
                <a:lnTo>
                  <a:pt x="0" y="0"/>
                </a:lnTo>
                <a:close/>
              </a:path>
            </a:pathLst>
          </a:custGeom>
          <a:blipFill>
            <a:blip r:embed="rId3"/>
            <a:stretch>
              <a:fillRect/>
            </a:stretch>
          </a:blipFill>
        </p:spPr>
        <p:txBody>
          <a:bodyPr/>
          <a:lstStyle/>
          <a:p>
            <a:endParaRPr lang="en-US"/>
          </a:p>
        </p:txBody>
      </p:sp>
      <p:sp>
        <p:nvSpPr>
          <p:cNvPr id="4" name="Freeform 4"/>
          <p:cNvSpPr/>
          <p:nvPr/>
        </p:nvSpPr>
        <p:spPr>
          <a:xfrm>
            <a:off x="8098277" y="672665"/>
            <a:ext cx="5590765" cy="7272539"/>
          </a:xfrm>
          <a:custGeom>
            <a:avLst/>
            <a:gdLst/>
            <a:ahLst/>
            <a:cxnLst/>
            <a:rect l="l" t="t" r="r" b="b"/>
            <a:pathLst>
              <a:path w="5590765" h="7272539">
                <a:moveTo>
                  <a:pt x="0" y="0"/>
                </a:moveTo>
                <a:lnTo>
                  <a:pt x="5590764" y="0"/>
                </a:lnTo>
                <a:lnTo>
                  <a:pt x="5590764" y="7272539"/>
                </a:lnTo>
                <a:lnTo>
                  <a:pt x="0" y="7272539"/>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356817" y="0"/>
            <a:ext cx="19001635" cy="10287000"/>
          </a:xfrm>
          <a:custGeom>
            <a:avLst/>
            <a:gdLst/>
            <a:ahLst/>
            <a:cxnLst/>
            <a:rect l="l" t="t" r="r" b="b"/>
            <a:pathLst>
              <a:path w="19001635" h="10287000">
                <a:moveTo>
                  <a:pt x="0" y="0"/>
                </a:moveTo>
                <a:lnTo>
                  <a:pt x="19001634" y="0"/>
                </a:lnTo>
                <a:lnTo>
                  <a:pt x="19001634" y="10287000"/>
                </a:lnTo>
                <a:lnTo>
                  <a:pt x="0" y="10287000"/>
                </a:lnTo>
                <a:lnTo>
                  <a:pt x="0" y="0"/>
                </a:lnTo>
                <a:close/>
              </a:path>
            </a:pathLst>
          </a:custGeom>
          <a:blipFill>
            <a:blip r:embed="rId2"/>
            <a:stretch>
              <a:fillRect l="-506" r="-506"/>
            </a:stretch>
          </a:blipFill>
        </p:spPr>
        <p:txBody>
          <a:bodyPr/>
          <a:lstStyle/>
          <a:p>
            <a:endParaRPr lang="en-US"/>
          </a:p>
        </p:txBody>
      </p:sp>
      <p:sp>
        <p:nvSpPr>
          <p:cNvPr id="3" name="Freeform 3"/>
          <p:cNvSpPr/>
          <p:nvPr/>
        </p:nvSpPr>
        <p:spPr>
          <a:xfrm>
            <a:off x="0" y="0"/>
            <a:ext cx="11231143" cy="5980584"/>
          </a:xfrm>
          <a:custGeom>
            <a:avLst/>
            <a:gdLst/>
            <a:ahLst/>
            <a:cxnLst/>
            <a:rect l="l" t="t" r="r" b="b"/>
            <a:pathLst>
              <a:path w="11231143" h="5980584">
                <a:moveTo>
                  <a:pt x="0" y="0"/>
                </a:moveTo>
                <a:lnTo>
                  <a:pt x="11231143" y="0"/>
                </a:lnTo>
                <a:lnTo>
                  <a:pt x="11231143" y="5980584"/>
                </a:lnTo>
                <a:lnTo>
                  <a:pt x="0" y="5980584"/>
                </a:lnTo>
                <a:lnTo>
                  <a:pt x="0" y="0"/>
                </a:lnTo>
                <a:close/>
              </a:path>
            </a:pathLst>
          </a:custGeom>
          <a:blipFill>
            <a:blip r:embed="rId3"/>
            <a:stretch>
              <a:fillRect/>
            </a:stretch>
          </a:blipFill>
        </p:spPr>
        <p:txBody>
          <a:bodyPr/>
          <a:lstStyle/>
          <a:p>
            <a:endParaRPr lang="en-US"/>
          </a:p>
        </p:txBody>
      </p:sp>
      <p:sp>
        <p:nvSpPr>
          <p:cNvPr id="4" name="Freeform 4"/>
          <p:cNvSpPr/>
          <p:nvPr/>
        </p:nvSpPr>
        <p:spPr>
          <a:xfrm>
            <a:off x="6986741" y="4688186"/>
            <a:ext cx="11301259" cy="5791895"/>
          </a:xfrm>
          <a:custGeom>
            <a:avLst/>
            <a:gdLst/>
            <a:ahLst/>
            <a:cxnLst/>
            <a:rect l="l" t="t" r="r" b="b"/>
            <a:pathLst>
              <a:path w="11301259" h="5791895">
                <a:moveTo>
                  <a:pt x="0" y="0"/>
                </a:moveTo>
                <a:lnTo>
                  <a:pt x="11301259" y="0"/>
                </a:lnTo>
                <a:lnTo>
                  <a:pt x="11301259" y="5791895"/>
                </a:lnTo>
                <a:lnTo>
                  <a:pt x="0" y="5791895"/>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906037" y="0"/>
            <a:ext cx="19194037" cy="10287000"/>
          </a:xfrm>
          <a:custGeom>
            <a:avLst/>
            <a:gdLst/>
            <a:ahLst/>
            <a:cxnLst/>
            <a:rect l="l" t="t" r="r" b="b"/>
            <a:pathLst>
              <a:path w="19194037" h="10287000">
                <a:moveTo>
                  <a:pt x="0" y="0"/>
                </a:moveTo>
                <a:lnTo>
                  <a:pt x="19194037" y="0"/>
                </a:lnTo>
                <a:lnTo>
                  <a:pt x="19194037"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0" y="0"/>
            <a:ext cx="14024606" cy="7485633"/>
          </a:xfrm>
          <a:custGeom>
            <a:avLst/>
            <a:gdLst/>
            <a:ahLst/>
            <a:cxnLst/>
            <a:rect l="l" t="t" r="r" b="b"/>
            <a:pathLst>
              <a:path w="14024606" h="7485633">
                <a:moveTo>
                  <a:pt x="0" y="0"/>
                </a:moveTo>
                <a:lnTo>
                  <a:pt x="14024606" y="0"/>
                </a:lnTo>
                <a:lnTo>
                  <a:pt x="14024606" y="7485633"/>
                </a:lnTo>
                <a:lnTo>
                  <a:pt x="0" y="7485633"/>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0"/>
            <a:ext cx="20063897" cy="10753200"/>
          </a:xfrm>
          <a:custGeom>
            <a:avLst/>
            <a:gdLst/>
            <a:ahLst/>
            <a:cxnLst/>
            <a:rect l="l" t="t" r="r" b="b"/>
            <a:pathLst>
              <a:path w="20063897" h="10753200">
                <a:moveTo>
                  <a:pt x="0" y="0"/>
                </a:moveTo>
                <a:lnTo>
                  <a:pt x="20063897" y="0"/>
                </a:lnTo>
                <a:lnTo>
                  <a:pt x="20063897" y="10753200"/>
                </a:lnTo>
                <a:lnTo>
                  <a:pt x="0" y="10753200"/>
                </a:lnTo>
                <a:lnTo>
                  <a:pt x="0" y="0"/>
                </a:lnTo>
                <a:close/>
              </a:path>
            </a:pathLst>
          </a:custGeom>
          <a:blipFill>
            <a:blip r:embed="rId2"/>
            <a:stretch>
              <a:fillRect/>
            </a:stretch>
          </a:blipFill>
        </p:spPr>
        <p:txBody>
          <a:bodyPr/>
          <a:lstStyle/>
          <a:p>
            <a:endParaRPr lang="en-US"/>
          </a:p>
        </p:txBody>
      </p:sp>
      <p:sp>
        <p:nvSpPr>
          <p:cNvPr id="3" name="Freeform 3"/>
          <p:cNvSpPr/>
          <p:nvPr/>
        </p:nvSpPr>
        <p:spPr>
          <a:xfrm>
            <a:off x="0" y="0"/>
            <a:ext cx="15553563" cy="8515576"/>
          </a:xfrm>
          <a:custGeom>
            <a:avLst/>
            <a:gdLst/>
            <a:ahLst/>
            <a:cxnLst/>
            <a:rect l="l" t="t" r="r" b="b"/>
            <a:pathLst>
              <a:path w="15553563" h="8515576">
                <a:moveTo>
                  <a:pt x="0" y="0"/>
                </a:moveTo>
                <a:lnTo>
                  <a:pt x="15553563" y="0"/>
                </a:lnTo>
                <a:lnTo>
                  <a:pt x="15553563" y="8515576"/>
                </a:lnTo>
                <a:lnTo>
                  <a:pt x="0" y="851557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172271" y="0"/>
            <a:ext cx="19337964" cy="10364137"/>
          </a:xfrm>
          <a:custGeom>
            <a:avLst/>
            <a:gdLst/>
            <a:ahLst/>
            <a:cxnLst/>
            <a:rect l="l" t="t" r="r" b="b"/>
            <a:pathLst>
              <a:path w="19337964" h="10364137">
                <a:moveTo>
                  <a:pt x="0" y="0"/>
                </a:moveTo>
                <a:lnTo>
                  <a:pt x="19337964" y="0"/>
                </a:lnTo>
                <a:lnTo>
                  <a:pt x="19337964" y="10364137"/>
                </a:lnTo>
                <a:lnTo>
                  <a:pt x="0" y="10364137"/>
                </a:lnTo>
                <a:lnTo>
                  <a:pt x="0" y="0"/>
                </a:lnTo>
                <a:close/>
              </a:path>
            </a:pathLst>
          </a:custGeom>
          <a:blipFill>
            <a:blip r:embed="rId2"/>
            <a:stretch>
              <a:fillRect/>
            </a:stretch>
          </a:blipFill>
        </p:spPr>
        <p:txBody>
          <a:bodyPr/>
          <a:lstStyle/>
          <a:p>
            <a:endParaRPr lang="en-US"/>
          </a:p>
        </p:txBody>
      </p:sp>
      <p:sp>
        <p:nvSpPr>
          <p:cNvPr id="3" name="Freeform 3"/>
          <p:cNvSpPr/>
          <p:nvPr/>
        </p:nvSpPr>
        <p:spPr>
          <a:xfrm>
            <a:off x="0" y="0"/>
            <a:ext cx="11552595" cy="5314998"/>
          </a:xfrm>
          <a:custGeom>
            <a:avLst/>
            <a:gdLst/>
            <a:ahLst/>
            <a:cxnLst/>
            <a:rect l="l" t="t" r="r" b="b"/>
            <a:pathLst>
              <a:path w="11552595" h="5314998">
                <a:moveTo>
                  <a:pt x="0" y="0"/>
                </a:moveTo>
                <a:lnTo>
                  <a:pt x="11552595" y="0"/>
                </a:lnTo>
                <a:lnTo>
                  <a:pt x="11552595" y="5314998"/>
                </a:lnTo>
                <a:lnTo>
                  <a:pt x="0" y="5314998"/>
                </a:lnTo>
                <a:lnTo>
                  <a:pt x="0" y="0"/>
                </a:lnTo>
                <a:close/>
              </a:path>
            </a:pathLst>
          </a:custGeom>
          <a:blipFill>
            <a:blip r:embed="rId3"/>
            <a:stretch>
              <a:fillRect t="-1079" b="-1079"/>
            </a:stretch>
          </a:blipFill>
        </p:spPr>
        <p:txBody>
          <a:bodyPr/>
          <a:lstStyle/>
          <a:p>
            <a:endParaRPr lang="en-US"/>
          </a:p>
        </p:txBody>
      </p:sp>
      <p:sp>
        <p:nvSpPr>
          <p:cNvPr id="4" name="Freeform 4"/>
          <p:cNvSpPr/>
          <p:nvPr/>
        </p:nvSpPr>
        <p:spPr>
          <a:xfrm>
            <a:off x="6611173" y="5143500"/>
            <a:ext cx="11676827" cy="5488109"/>
          </a:xfrm>
          <a:custGeom>
            <a:avLst/>
            <a:gdLst/>
            <a:ahLst/>
            <a:cxnLst/>
            <a:rect l="l" t="t" r="r" b="b"/>
            <a:pathLst>
              <a:path w="11676827" h="5488109">
                <a:moveTo>
                  <a:pt x="0" y="0"/>
                </a:moveTo>
                <a:lnTo>
                  <a:pt x="11676827" y="0"/>
                </a:lnTo>
                <a:lnTo>
                  <a:pt x="11676827" y="5488109"/>
                </a:lnTo>
                <a:lnTo>
                  <a:pt x="0" y="5488109"/>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262665" y="0"/>
            <a:ext cx="18813331" cy="10287000"/>
          </a:xfrm>
          <a:custGeom>
            <a:avLst/>
            <a:gdLst/>
            <a:ahLst/>
            <a:cxnLst/>
            <a:rect l="l" t="t" r="r" b="b"/>
            <a:pathLst>
              <a:path w="18813331" h="10287000">
                <a:moveTo>
                  <a:pt x="0" y="0"/>
                </a:moveTo>
                <a:lnTo>
                  <a:pt x="18813330" y="0"/>
                </a:lnTo>
                <a:lnTo>
                  <a:pt x="18813330" y="10287000"/>
                </a:lnTo>
                <a:lnTo>
                  <a:pt x="0" y="10287000"/>
                </a:lnTo>
                <a:lnTo>
                  <a:pt x="0" y="0"/>
                </a:lnTo>
                <a:close/>
              </a:path>
            </a:pathLst>
          </a:custGeom>
          <a:blipFill>
            <a:blip r:embed="rId2"/>
            <a:stretch>
              <a:fillRect l="-1011" r="-1011"/>
            </a:stretch>
          </a:blipFill>
        </p:spPr>
        <p:txBody>
          <a:bodyPr/>
          <a:lstStyle/>
          <a:p>
            <a:endParaRPr lang="en-US"/>
          </a:p>
        </p:txBody>
      </p:sp>
      <p:sp>
        <p:nvSpPr>
          <p:cNvPr id="3" name="TextBox 3"/>
          <p:cNvSpPr txBox="1"/>
          <p:nvPr/>
        </p:nvSpPr>
        <p:spPr>
          <a:xfrm>
            <a:off x="824729" y="1819472"/>
            <a:ext cx="11832718" cy="8083640"/>
          </a:xfrm>
          <a:prstGeom prst="rect">
            <a:avLst/>
          </a:prstGeom>
        </p:spPr>
        <p:txBody>
          <a:bodyPr lIns="0" tIns="0" rIns="0" bIns="0" rtlCol="0" anchor="t">
            <a:spAutoFit/>
          </a:bodyPr>
          <a:lstStyle/>
          <a:p>
            <a:pPr algn="l">
              <a:lnSpc>
                <a:spcPts val="3972"/>
              </a:lnSpc>
            </a:pPr>
            <a:r>
              <a:rPr lang="en-US" sz="2837" b="1">
                <a:solidFill>
                  <a:srgbClr val="FF4747"/>
                </a:solidFill>
                <a:latin typeface="Canva Sans Bold"/>
                <a:ea typeface="Canva Sans Bold"/>
                <a:cs typeface="Canva Sans Bold"/>
                <a:sym typeface="Canva Sans Bold"/>
              </a:rPr>
              <a:t>Accurate Weather Retrieval:</a:t>
            </a:r>
            <a:r>
              <a:rPr lang="en-US" sz="2837" b="1">
                <a:solidFill>
                  <a:srgbClr val="000000"/>
                </a:solidFill>
                <a:latin typeface="Canva Sans Bold"/>
                <a:ea typeface="Canva Sans Bold"/>
                <a:cs typeface="Canva Sans Bold"/>
                <a:sym typeface="Canva Sans Bold"/>
              </a:rPr>
              <a:t> </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Successfully fetches real-time weather data for multiple cities. </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Provides additional insights like wind chill, UV index, and daylight duration.</a:t>
            </a:r>
          </a:p>
          <a:p>
            <a:pPr algn="l">
              <a:lnSpc>
                <a:spcPts val="3972"/>
              </a:lnSpc>
              <a:spcBef>
                <a:spcPct val="0"/>
              </a:spcBef>
            </a:pPr>
            <a:r>
              <a:rPr lang="en-US" sz="2837" b="1">
                <a:solidFill>
                  <a:srgbClr val="FF4747"/>
                </a:solidFill>
                <a:latin typeface="Canva Sans Bold"/>
                <a:ea typeface="Canva Sans Bold"/>
                <a:cs typeface="Canva Sans Bold"/>
                <a:sym typeface="Canva Sans Bold"/>
              </a:rPr>
              <a:t>Timezone Handling</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Converts UTC timestamps to Indian Standard Time (IST) for better readability.</a:t>
            </a:r>
          </a:p>
          <a:p>
            <a:pPr algn="l">
              <a:lnSpc>
                <a:spcPts val="3972"/>
              </a:lnSpc>
              <a:spcBef>
                <a:spcPct val="0"/>
              </a:spcBef>
            </a:pPr>
            <a:r>
              <a:rPr lang="en-US" sz="2837" b="1">
                <a:solidFill>
                  <a:srgbClr val="FF4747"/>
                </a:solidFill>
                <a:latin typeface="Canva Sans Bold"/>
                <a:ea typeface="Canva Sans Bold"/>
                <a:cs typeface="Canva Sans Bold"/>
                <a:sym typeface="Canva Sans Bold"/>
              </a:rPr>
              <a:t>Improved User Experience</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Uses emojis for quick weather interpretation.</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Displays temperature status (Cold, Pleasant, Hot).</a:t>
            </a:r>
          </a:p>
          <a:p>
            <a:pPr algn="just">
              <a:lnSpc>
                <a:spcPts val="3972"/>
              </a:lnSpc>
              <a:spcBef>
                <a:spcPct val="0"/>
              </a:spcBef>
            </a:pPr>
            <a:r>
              <a:rPr lang="en-US" sz="2837" b="1">
                <a:solidFill>
                  <a:srgbClr val="FF4747"/>
                </a:solidFill>
                <a:latin typeface="Canva Sans Bold"/>
                <a:ea typeface="Canva Sans Bold"/>
                <a:cs typeface="Canva Sans Bold"/>
                <a:sym typeface="Canva Sans Bold"/>
              </a:rPr>
              <a:t>Data Logging &amp; History</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Weather data is saved in a text file (weather_log.txt), allowing tracking over time.</a:t>
            </a:r>
          </a:p>
          <a:p>
            <a:pPr algn="l">
              <a:lnSpc>
                <a:spcPts val="3972"/>
              </a:lnSpc>
              <a:spcBef>
                <a:spcPct val="0"/>
              </a:spcBef>
            </a:pPr>
            <a:r>
              <a:rPr lang="en-US" sz="2837" b="1">
                <a:solidFill>
                  <a:srgbClr val="FF4747"/>
                </a:solidFill>
                <a:latin typeface="Canva Sans Bold"/>
                <a:ea typeface="Canva Sans Bold"/>
                <a:cs typeface="Canva Sans Bold"/>
                <a:sym typeface="Canva Sans Bold"/>
              </a:rPr>
              <a:t>Interactive Data Visualisation</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Matplotlib &amp; Seaborn create trend graphs for temperature changes.</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Folium supports map-based visualization.</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Bokeh &amp; Plotly provide interactive charts.</a:t>
            </a:r>
          </a:p>
          <a:p>
            <a:pPr algn="l">
              <a:lnSpc>
                <a:spcPts val="3972"/>
              </a:lnSpc>
              <a:spcBef>
                <a:spcPct val="0"/>
              </a:spcBef>
            </a:pPr>
            <a:r>
              <a:rPr lang="en-US" sz="2837" b="1">
                <a:solidFill>
                  <a:srgbClr val="FF4747"/>
                </a:solidFill>
                <a:latin typeface="Canva Sans Bold"/>
                <a:ea typeface="Canva Sans Bold"/>
                <a:cs typeface="Canva Sans Bold"/>
                <a:sym typeface="Canva Sans Bold"/>
              </a:rPr>
              <a:t>Automated Updates</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Uses schedule to fetch live weather data every 10 minutes.</a:t>
            </a:r>
          </a:p>
          <a:p>
            <a:pPr algn="l">
              <a:lnSpc>
                <a:spcPts val="3972"/>
              </a:lnSpc>
              <a:spcBef>
                <a:spcPct val="0"/>
              </a:spcBef>
            </a:pPr>
            <a:r>
              <a:rPr lang="en-US" sz="2837" b="1">
                <a:solidFill>
                  <a:srgbClr val="FF4747"/>
                </a:solidFill>
                <a:latin typeface="Canva Sans Bold"/>
                <a:ea typeface="Canva Sans Bold"/>
                <a:cs typeface="Canva Sans Bold"/>
                <a:sym typeface="Canva Sans Bold"/>
              </a:rPr>
              <a:t>Scalability</a:t>
            </a:r>
          </a:p>
          <a:p>
            <a:pPr marL="483026" lvl="1" indent="-241513" algn="l">
              <a:lnSpc>
                <a:spcPts val="3132"/>
              </a:lnSpc>
              <a:spcBef>
                <a:spcPct val="0"/>
              </a:spcBef>
              <a:buFont typeface="Arial"/>
              <a:buChar char="•"/>
            </a:pPr>
            <a:r>
              <a:rPr lang="en-US" sz="2237" b="1">
                <a:solidFill>
                  <a:srgbClr val="000000"/>
                </a:solidFill>
                <a:latin typeface="Canva Sans Bold"/>
                <a:ea typeface="Canva Sans Bold"/>
                <a:cs typeface="Canva Sans Bold"/>
                <a:sym typeface="Canva Sans Bold"/>
              </a:rPr>
              <a:t>Supports multiple cities and allows adding new cities dynamically</a:t>
            </a:r>
          </a:p>
          <a:p>
            <a:pPr algn="ctr">
              <a:lnSpc>
                <a:spcPts val="2667"/>
              </a:lnSpc>
              <a:spcBef>
                <a:spcPct val="0"/>
              </a:spcBef>
            </a:pPr>
            <a:endParaRPr lang="en-US" sz="2237" b="1">
              <a:solidFill>
                <a:srgbClr val="000000"/>
              </a:solidFill>
              <a:latin typeface="Canva Sans Bold"/>
              <a:ea typeface="Canva Sans Bold"/>
              <a:cs typeface="Canva Sans Bold"/>
              <a:sym typeface="Canva Sans Bold"/>
            </a:endParaRPr>
          </a:p>
        </p:txBody>
      </p:sp>
      <p:sp>
        <p:nvSpPr>
          <p:cNvPr id="4" name="Freeform 4"/>
          <p:cNvSpPr/>
          <p:nvPr/>
        </p:nvSpPr>
        <p:spPr>
          <a:xfrm>
            <a:off x="11813728" y="259154"/>
            <a:ext cx="5070520" cy="6989936"/>
          </a:xfrm>
          <a:custGeom>
            <a:avLst/>
            <a:gdLst/>
            <a:ahLst/>
            <a:cxnLst/>
            <a:rect l="l" t="t" r="r" b="b"/>
            <a:pathLst>
              <a:path w="5070520" h="6989936">
                <a:moveTo>
                  <a:pt x="0" y="0"/>
                </a:moveTo>
                <a:lnTo>
                  <a:pt x="5070519" y="0"/>
                </a:lnTo>
                <a:lnTo>
                  <a:pt x="5070519" y="6989936"/>
                </a:lnTo>
                <a:lnTo>
                  <a:pt x="0" y="6989936"/>
                </a:lnTo>
                <a:lnTo>
                  <a:pt x="0" y="0"/>
                </a:lnTo>
                <a:close/>
              </a:path>
            </a:pathLst>
          </a:custGeom>
          <a:blipFill>
            <a:blip r:embed="rId3"/>
            <a:stretch>
              <a:fillRect l="-12810" t="-907" b="-907"/>
            </a:stretch>
          </a:blipFill>
        </p:spPr>
        <p:txBody>
          <a:bodyPr/>
          <a:lstStyle/>
          <a:p>
            <a:endParaRPr lang="en-US"/>
          </a:p>
        </p:txBody>
      </p:sp>
      <p:sp>
        <p:nvSpPr>
          <p:cNvPr id="5" name="TextBox 5"/>
          <p:cNvSpPr txBox="1"/>
          <p:nvPr/>
        </p:nvSpPr>
        <p:spPr>
          <a:xfrm>
            <a:off x="1325073" y="419735"/>
            <a:ext cx="4064830" cy="887096"/>
          </a:xfrm>
          <a:prstGeom prst="rect">
            <a:avLst/>
          </a:prstGeom>
        </p:spPr>
        <p:txBody>
          <a:bodyPr lIns="0" tIns="0" rIns="0" bIns="0" rtlCol="0" anchor="t">
            <a:spAutoFit/>
          </a:bodyPr>
          <a:lstStyle/>
          <a:p>
            <a:pPr algn="ctr">
              <a:lnSpc>
                <a:spcPts val="7279"/>
              </a:lnSpc>
              <a:spcBef>
                <a:spcPct val="0"/>
              </a:spcBef>
            </a:pPr>
            <a:r>
              <a:rPr lang="en-US" sz="5199" b="1">
                <a:solidFill>
                  <a:srgbClr val="F5EFCF"/>
                </a:solidFill>
                <a:latin typeface="Canva Sans Bold"/>
                <a:ea typeface="Canva Sans Bold"/>
                <a:cs typeface="Canva Sans Bold"/>
                <a:sym typeface="Canva Sans Bold"/>
              </a:rPr>
              <a:t>OUTCOMES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947499" y="-341304"/>
            <a:ext cx="19830859" cy="10628304"/>
          </a:xfrm>
          <a:custGeom>
            <a:avLst/>
            <a:gdLst/>
            <a:ahLst/>
            <a:cxnLst/>
            <a:rect l="l" t="t" r="r" b="b"/>
            <a:pathLst>
              <a:path w="19830859" h="10628304">
                <a:moveTo>
                  <a:pt x="0" y="0"/>
                </a:moveTo>
                <a:lnTo>
                  <a:pt x="19830859" y="0"/>
                </a:lnTo>
                <a:lnTo>
                  <a:pt x="19830859" y="10628304"/>
                </a:lnTo>
                <a:lnTo>
                  <a:pt x="0" y="1062830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585769"/>
            <a:ext cx="12648532" cy="8909143"/>
          </a:xfrm>
          <a:prstGeom prst="rect">
            <a:avLst/>
          </a:prstGeom>
        </p:spPr>
        <p:txBody>
          <a:bodyPr lIns="0" tIns="0" rIns="0" bIns="0" rtlCol="0" anchor="t">
            <a:spAutoFit/>
          </a:bodyPr>
          <a:lstStyle/>
          <a:p>
            <a:pPr algn="l">
              <a:lnSpc>
                <a:spcPts val="3978"/>
              </a:lnSpc>
              <a:spcBef>
                <a:spcPct val="0"/>
              </a:spcBef>
            </a:pPr>
            <a:r>
              <a:rPr lang="en-US" sz="2841" b="1">
                <a:solidFill>
                  <a:srgbClr val="FF4747"/>
                </a:solidFill>
                <a:latin typeface="Canva Sans Bold"/>
                <a:ea typeface="Canva Sans Bold"/>
                <a:cs typeface="Canva Sans Bold"/>
                <a:sym typeface="Canva Sans Bold"/>
              </a:rPr>
              <a:t>API Limitations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Free-tier APIs have rate limits, restricting the number of requests per minute.</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Some features (e.g., UV index) may require a paid plan.</a:t>
            </a:r>
          </a:p>
          <a:p>
            <a:pPr algn="l">
              <a:lnSpc>
                <a:spcPts val="3978"/>
              </a:lnSpc>
              <a:spcBef>
                <a:spcPct val="0"/>
              </a:spcBef>
            </a:pPr>
            <a:r>
              <a:rPr lang="en-US" sz="2841" b="1">
                <a:solidFill>
                  <a:srgbClr val="FF4747"/>
                </a:solidFill>
                <a:latin typeface="Canva Sans Bold"/>
                <a:ea typeface="Canva Sans Bold"/>
                <a:cs typeface="Canva Sans Bold"/>
                <a:sym typeface="Canva Sans Bold"/>
              </a:rPr>
              <a:t>Handling API Failures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Some cities may not return data due to incorrect spelling or missing records.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Implemented error handling (response.status_code) to manage API failures.</a:t>
            </a:r>
          </a:p>
          <a:p>
            <a:pPr algn="l">
              <a:lnSpc>
                <a:spcPts val="3978"/>
              </a:lnSpc>
              <a:spcBef>
                <a:spcPct val="0"/>
              </a:spcBef>
            </a:pPr>
            <a:r>
              <a:rPr lang="en-US" sz="2841" b="1">
                <a:solidFill>
                  <a:srgbClr val="FF4747"/>
                </a:solidFill>
                <a:latin typeface="Canva Sans Bold"/>
                <a:ea typeface="Canva Sans Bold"/>
                <a:cs typeface="Canva Sans Bold"/>
                <a:sym typeface="Canva Sans Bold"/>
              </a:rPr>
              <a:t>Time Zone Adjustments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Converting UTC to IST was necessary for user-friendliness.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Handled time formatting to ensure proper visualization.</a:t>
            </a:r>
          </a:p>
          <a:p>
            <a:pPr algn="l">
              <a:lnSpc>
                <a:spcPts val="3978"/>
              </a:lnSpc>
              <a:spcBef>
                <a:spcPct val="0"/>
              </a:spcBef>
            </a:pPr>
            <a:r>
              <a:rPr lang="en-US" sz="2841" b="1">
                <a:solidFill>
                  <a:srgbClr val="FF4747"/>
                </a:solidFill>
                <a:latin typeface="Canva Sans Bold"/>
                <a:ea typeface="Canva Sans Bold"/>
                <a:cs typeface="Canva Sans Bold"/>
                <a:sym typeface="Canva Sans Bold"/>
              </a:rPr>
              <a:t>Data Visualisation Complexity</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Forecast graphs required proper handling of timestamps.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Seaborn and Matplotlib plots needed rotation of x-axis labels for clarity.</a:t>
            </a:r>
          </a:p>
          <a:p>
            <a:pPr algn="l">
              <a:lnSpc>
                <a:spcPts val="3978"/>
              </a:lnSpc>
              <a:spcBef>
                <a:spcPct val="0"/>
              </a:spcBef>
            </a:pPr>
            <a:r>
              <a:rPr lang="en-US" sz="2841" b="1">
                <a:solidFill>
                  <a:srgbClr val="FF4747"/>
                </a:solidFill>
                <a:latin typeface="Canva Sans Bold"/>
                <a:ea typeface="Canva Sans Bold"/>
                <a:cs typeface="Canva Sans Bold"/>
                <a:sym typeface="Canva Sans Bold"/>
              </a:rPr>
              <a:t>Real-time Updates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Continuous API requests can slow down execution.</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Used schedule and time.sleep(10) to ensure periodic updates without overloading.</a:t>
            </a:r>
          </a:p>
          <a:p>
            <a:pPr algn="l">
              <a:lnSpc>
                <a:spcPts val="3976"/>
              </a:lnSpc>
              <a:spcBef>
                <a:spcPct val="0"/>
              </a:spcBef>
            </a:pPr>
            <a:r>
              <a:rPr lang="en-US" sz="2840" b="1">
                <a:solidFill>
                  <a:srgbClr val="FF4747"/>
                </a:solidFill>
                <a:latin typeface="Canva Sans Bold"/>
                <a:ea typeface="Canva Sans Bold"/>
                <a:cs typeface="Canva Sans Bold"/>
                <a:sym typeface="Canva Sans Bold"/>
              </a:rPr>
              <a:t>Wind Chill Calculation Constraints</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The formula only applies under specific conditions (temperature ≤ 10°C).</a:t>
            </a:r>
          </a:p>
          <a:p>
            <a:pPr marL="838448" lvl="2" indent="-279483" algn="l">
              <a:lnSpc>
                <a:spcPts val="2718"/>
              </a:lnSpc>
              <a:spcBef>
                <a:spcPct val="0"/>
              </a:spcBef>
              <a:buFont typeface="Arial"/>
              <a:buChar char="⚬"/>
            </a:pPr>
            <a:r>
              <a:rPr lang="en-US" sz="1941" b="1">
                <a:solidFill>
                  <a:srgbClr val="000000"/>
                </a:solidFill>
                <a:latin typeface="Canva Sans Bold"/>
                <a:ea typeface="Canva Sans Bold"/>
                <a:cs typeface="Canva Sans Bold"/>
                <a:sym typeface="Canva Sans Bold"/>
              </a:rPr>
              <a:t>Returns "N/A" when conditions are not met.</a:t>
            </a:r>
          </a:p>
          <a:p>
            <a:pPr algn="l">
              <a:lnSpc>
                <a:spcPts val="3978"/>
              </a:lnSpc>
              <a:spcBef>
                <a:spcPct val="0"/>
              </a:spcBef>
            </a:pPr>
            <a:r>
              <a:rPr lang="en-US" sz="2841" b="1">
                <a:solidFill>
                  <a:srgbClr val="FF4747"/>
                </a:solidFill>
                <a:latin typeface="Canva Sans Bold"/>
                <a:ea typeface="Canva Sans Bold"/>
                <a:cs typeface="Canva Sans Bold"/>
                <a:sym typeface="Canva Sans Bold"/>
              </a:rPr>
              <a:t>User Input Handling</a:t>
            </a:r>
          </a:p>
          <a:p>
            <a:pPr algn="l">
              <a:lnSpc>
                <a:spcPts val="2578"/>
              </a:lnSpc>
            </a:pPr>
            <a:r>
              <a:rPr lang="en-US" sz="1841" b="1">
                <a:solidFill>
                  <a:srgbClr val="000000"/>
                </a:solidFill>
                <a:latin typeface="Canva Sans Bold"/>
                <a:ea typeface="Canva Sans Bold"/>
                <a:cs typeface="Canva Sans Bold"/>
                <a:sym typeface="Canva Sans Bold"/>
              </a:rPr>
              <a:t>               Users may enter an invalid city name, causing API errors.</a:t>
            </a:r>
          </a:p>
          <a:p>
            <a:pPr marL="804903" lvl="2" indent="-268301" algn="l">
              <a:lnSpc>
                <a:spcPts val="2609"/>
              </a:lnSpc>
              <a:spcBef>
                <a:spcPct val="0"/>
              </a:spcBef>
              <a:buFont typeface="Arial"/>
              <a:buChar char="⚬"/>
            </a:pPr>
            <a:r>
              <a:rPr lang="en-US" sz="1864" b="1">
                <a:solidFill>
                  <a:srgbClr val="000000"/>
                </a:solidFill>
                <a:latin typeface="Canva Sans Bold"/>
                <a:ea typeface="Canva Sans Bold"/>
                <a:cs typeface="Canva Sans Bold"/>
                <a:sym typeface="Canva Sans Bold"/>
              </a:rPr>
              <a:t>Implemented a city validation step before making API calls.</a:t>
            </a:r>
          </a:p>
          <a:p>
            <a:pPr algn="ctr">
              <a:lnSpc>
                <a:spcPts val="5111"/>
              </a:lnSpc>
              <a:spcBef>
                <a:spcPct val="0"/>
              </a:spcBef>
            </a:pPr>
            <a:endParaRPr lang="en-US" sz="1864" b="1">
              <a:solidFill>
                <a:srgbClr val="000000"/>
              </a:solidFill>
              <a:latin typeface="Canva Sans Bold"/>
              <a:ea typeface="Canva Sans Bold"/>
              <a:cs typeface="Canva Sans Bold"/>
              <a:sym typeface="Canva Sans Bold"/>
            </a:endParaRPr>
          </a:p>
        </p:txBody>
      </p:sp>
      <p:sp>
        <p:nvSpPr>
          <p:cNvPr id="4" name="Freeform 4"/>
          <p:cNvSpPr/>
          <p:nvPr/>
        </p:nvSpPr>
        <p:spPr>
          <a:xfrm>
            <a:off x="11485860" y="445251"/>
            <a:ext cx="5773440" cy="7946365"/>
          </a:xfrm>
          <a:custGeom>
            <a:avLst/>
            <a:gdLst/>
            <a:ahLst/>
            <a:cxnLst/>
            <a:rect l="l" t="t" r="r" b="b"/>
            <a:pathLst>
              <a:path w="5773440" h="7946365">
                <a:moveTo>
                  <a:pt x="0" y="0"/>
                </a:moveTo>
                <a:lnTo>
                  <a:pt x="5773440" y="0"/>
                </a:lnTo>
                <a:lnTo>
                  <a:pt x="5773440" y="7946364"/>
                </a:lnTo>
                <a:lnTo>
                  <a:pt x="0" y="7946364"/>
                </a:lnTo>
                <a:lnTo>
                  <a:pt x="0" y="0"/>
                </a:lnTo>
                <a:close/>
              </a:path>
            </a:pathLst>
          </a:custGeom>
          <a:blipFill>
            <a:blip r:embed="rId3"/>
            <a:stretch>
              <a:fillRect l="-6258" r="-6258"/>
            </a:stretch>
          </a:blipFill>
        </p:spPr>
        <p:txBody>
          <a:bodyPr/>
          <a:lstStyle/>
          <a:p>
            <a:endParaRPr lang="en-US"/>
          </a:p>
        </p:txBody>
      </p:sp>
      <p:sp>
        <p:nvSpPr>
          <p:cNvPr id="5" name="TextBox 5"/>
          <p:cNvSpPr txBox="1"/>
          <p:nvPr/>
        </p:nvSpPr>
        <p:spPr>
          <a:xfrm>
            <a:off x="0" y="537527"/>
            <a:ext cx="9915430" cy="887096"/>
          </a:xfrm>
          <a:prstGeom prst="rect">
            <a:avLst/>
          </a:prstGeom>
        </p:spPr>
        <p:txBody>
          <a:bodyPr lIns="0" tIns="0" rIns="0" bIns="0" rtlCol="0" anchor="t">
            <a:spAutoFit/>
          </a:bodyPr>
          <a:lstStyle/>
          <a:p>
            <a:pPr algn="ctr">
              <a:lnSpc>
                <a:spcPts val="7279"/>
              </a:lnSpc>
              <a:spcBef>
                <a:spcPct val="0"/>
              </a:spcBef>
            </a:pPr>
            <a:r>
              <a:rPr lang="en-US" sz="5199" b="1">
                <a:solidFill>
                  <a:srgbClr val="F5EFCF"/>
                </a:solidFill>
                <a:latin typeface="Canva Sans Bold"/>
                <a:ea typeface="Canva Sans Bold"/>
                <a:cs typeface="Canva Sans Bold"/>
                <a:sym typeface="Canva Sans Bold"/>
              </a:rPr>
              <a:t>CHALLENGES FACED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167177" y="-206846"/>
            <a:ext cx="18455177" cy="10700693"/>
          </a:xfrm>
          <a:custGeom>
            <a:avLst/>
            <a:gdLst/>
            <a:ahLst/>
            <a:cxnLst/>
            <a:rect l="l" t="t" r="r" b="b"/>
            <a:pathLst>
              <a:path w="18455177" h="10700693">
                <a:moveTo>
                  <a:pt x="0" y="0"/>
                </a:moveTo>
                <a:lnTo>
                  <a:pt x="18455177" y="0"/>
                </a:lnTo>
                <a:lnTo>
                  <a:pt x="18455177" y="10700692"/>
                </a:lnTo>
                <a:lnTo>
                  <a:pt x="0" y="10700692"/>
                </a:lnTo>
                <a:lnTo>
                  <a:pt x="0" y="0"/>
                </a:lnTo>
                <a:close/>
              </a:path>
            </a:pathLst>
          </a:custGeom>
          <a:blipFill>
            <a:blip r:embed="rId2"/>
            <a:stretch>
              <a:fillRect t="-7443" b="-7443"/>
            </a:stretch>
          </a:blipFill>
        </p:spPr>
        <p:txBody>
          <a:bodyPr/>
          <a:lstStyle/>
          <a:p>
            <a:endParaRPr lang="en-US"/>
          </a:p>
        </p:txBody>
      </p:sp>
      <p:sp>
        <p:nvSpPr>
          <p:cNvPr id="3" name="TextBox 3"/>
          <p:cNvSpPr txBox="1"/>
          <p:nvPr/>
        </p:nvSpPr>
        <p:spPr>
          <a:xfrm>
            <a:off x="1028700" y="346903"/>
            <a:ext cx="3952429" cy="887096"/>
          </a:xfrm>
          <a:prstGeom prst="rect">
            <a:avLst/>
          </a:prstGeom>
        </p:spPr>
        <p:txBody>
          <a:bodyPr lIns="0" tIns="0" rIns="0" bIns="0" rtlCol="0" anchor="t">
            <a:spAutoFit/>
          </a:bodyPr>
          <a:lstStyle/>
          <a:p>
            <a:pPr algn="ctr">
              <a:lnSpc>
                <a:spcPts val="7279"/>
              </a:lnSpc>
              <a:spcBef>
                <a:spcPct val="0"/>
              </a:spcBef>
            </a:pPr>
            <a:r>
              <a:rPr lang="en-US" sz="5199" b="1">
                <a:solidFill>
                  <a:srgbClr val="FFFFFF"/>
                </a:solidFill>
                <a:latin typeface="Canva Sans Bold"/>
                <a:ea typeface="Canva Sans Bold"/>
                <a:cs typeface="Canva Sans Bold"/>
                <a:sym typeface="Canva Sans Bold"/>
              </a:rPr>
              <a:t>Conclusions</a:t>
            </a:r>
          </a:p>
        </p:txBody>
      </p:sp>
      <p:sp>
        <p:nvSpPr>
          <p:cNvPr id="4" name="TextBox 4"/>
          <p:cNvSpPr txBox="1"/>
          <p:nvPr/>
        </p:nvSpPr>
        <p:spPr>
          <a:xfrm>
            <a:off x="1028700" y="1650599"/>
            <a:ext cx="13349104" cy="2647950"/>
          </a:xfrm>
          <a:prstGeom prst="rect">
            <a:avLst/>
          </a:prstGeom>
        </p:spPr>
        <p:txBody>
          <a:bodyPr lIns="0" tIns="0" rIns="0" bIns="0" rtlCol="0" anchor="t">
            <a:spAutoFit/>
          </a:bodyPr>
          <a:lstStyle/>
          <a:p>
            <a:pPr algn="l">
              <a:lnSpc>
                <a:spcPts val="4200"/>
              </a:lnSpc>
            </a:pPr>
            <a:r>
              <a:rPr lang="en-US" sz="3000" b="1">
                <a:solidFill>
                  <a:srgbClr val="FFFFFF"/>
                </a:solidFill>
                <a:latin typeface="Canva Sans Bold"/>
                <a:ea typeface="Canva Sans Bold"/>
                <a:cs typeface="Canva Sans Bold"/>
                <a:sym typeface="Canva Sans Bold"/>
              </a:rPr>
              <a:t>Future Enhancements: </a:t>
            </a:r>
          </a:p>
          <a:p>
            <a:pPr algn="l">
              <a:lnSpc>
                <a:spcPts val="4200"/>
              </a:lnSpc>
            </a:pPr>
            <a:r>
              <a:rPr lang="en-US" sz="3000" b="1">
                <a:solidFill>
                  <a:srgbClr val="FFFFFF"/>
                </a:solidFill>
                <a:latin typeface="Canva Sans Bold"/>
                <a:ea typeface="Canva Sans Bold"/>
                <a:cs typeface="Canva Sans Bold"/>
                <a:sym typeface="Canva Sans Bold"/>
              </a:rPr>
              <a:t>🚀 Integrate machine learning models for weather trend predictions</a:t>
            </a:r>
          </a:p>
          <a:p>
            <a:pPr algn="ctr">
              <a:lnSpc>
                <a:spcPts val="4200"/>
              </a:lnSpc>
            </a:pPr>
            <a:r>
              <a:rPr lang="en-US" sz="3000" b="1">
                <a:solidFill>
                  <a:srgbClr val="FFFFFF"/>
                </a:solidFill>
                <a:latin typeface="Canva Sans Bold"/>
                <a:ea typeface="Canva Sans Bold"/>
                <a:cs typeface="Canva Sans Bold"/>
                <a:sym typeface="Canva Sans Bold"/>
              </a:rPr>
              <a:t>🚀 Improve mobile compatibility by developing a web-based dashboard</a:t>
            </a:r>
          </a:p>
          <a:p>
            <a:pPr algn="l">
              <a:lnSpc>
                <a:spcPts val="4200"/>
              </a:lnSpc>
            </a:pPr>
            <a:r>
              <a:rPr lang="en-US" sz="3000" b="1">
                <a:solidFill>
                  <a:srgbClr val="FFFFFF"/>
                </a:solidFill>
                <a:latin typeface="Canva Sans Bold"/>
                <a:ea typeface="Canva Sans Bold"/>
                <a:cs typeface="Canva Sans Bold"/>
                <a:sym typeface="Canva Sans Bold"/>
              </a:rPr>
              <a:t>🚀 Include push notifications for severe weather alerts</a:t>
            </a:r>
          </a:p>
          <a:p>
            <a:pPr algn="ctr">
              <a:lnSpc>
                <a:spcPts val="4200"/>
              </a:lnSpc>
              <a:spcBef>
                <a:spcPct val="0"/>
              </a:spcBef>
            </a:pPr>
            <a:endParaRPr lang="en-US" sz="3000" b="1">
              <a:solidFill>
                <a:srgbClr val="FFFFFF"/>
              </a:solidFill>
              <a:latin typeface="Canva Sans Bold"/>
              <a:ea typeface="Canva Sans Bold"/>
              <a:cs typeface="Canva Sans Bold"/>
              <a:sym typeface="Canva Sans Bold"/>
            </a:endParaRPr>
          </a:p>
        </p:txBody>
      </p:sp>
      <p:sp>
        <p:nvSpPr>
          <p:cNvPr id="5" name="TextBox 5"/>
          <p:cNvSpPr txBox="1"/>
          <p:nvPr/>
        </p:nvSpPr>
        <p:spPr>
          <a:xfrm>
            <a:off x="1028700" y="4049557"/>
            <a:ext cx="4747617" cy="887096"/>
          </a:xfrm>
          <a:prstGeom prst="rect">
            <a:avLst/>
          </a:prstGeom>
        </p:spPr>
        <p:txBody>
          <a:bodyPr lIns="0" tIns="0" rIns="0" bIns="0" rtlCol="0" anchor="t">
            <a:spAutoFit/>
          </a:bodyPr>
          <a:lstStyle/>
          <a:p>
            <a:pPr algn="ctr">
              <a:lnSpc>
                <a:spcPts val="7279"/>
              </a:lnSpc>
              <a:spcBef>
                <a:spcPct val="0"/>
              </a:spcBef>
            </a:pPr>
            <a:r>
              <a:rPr lang="en-US" sz="5199" b="1">
                <a:solidFill>
                  <a:srgbClr val="FFFFFF"/>
                </a:solidFill>
                <a:latin typeface="Canva Sans Bold"/>
                <a:ea typeface="Canva Sans Bold"/>
                <a:cs typeface="Canva Sans Bold"/>
                <a:sym typeface="Canva Sans Bold"/>
              </a:rPr>
              <a:t>Final Thoughts</a:t>
            </a:r>
          </a:p>
        </p:txBody>
      </p:sp>
      <p:sp>
        <p:nvSpPr>
          <p:cNvPr id="6" name="TextBox 6"/>
          <p:cNvSpPr txBox="1"/>
          <p:nvPr/>
        </p:nvSpPr>
        <p:spPr>
          <a:xfrm>
            <a:off x="1028700" y="5086350"/>
            <a:ext cx="15921751" cy="2114550"/>
          </a:xfrm>
          <a:prstGeom prst="rect">
            <a:avLst/>
          </a:prstGeom>
        </p:spPr>
        <p:txBody>
          <a:bodyPr lIns="0" tIns="0" rIns="0" bIns="0" rtlCol="0" anchor="t">
            <a:spAutoFit/>
          </a:bodyPr>
          <a:lstStyle/>
          <a:p>
            <a:pPr algn="l">
              <a:lnSpc>
                <a:spcPts val="4200"/>
              </a:lnSpc>
              <a:spcBef>
                <a:spcPct val="0"/>
              </a:spcBef>
            </a:pPr>
            <a:r>
              <a:rPr lang="en-US" sz="3000" b="1">
                <a:solidFill>
                  <a:srgbClr val="FFFFFF"/>
                </a:solidFill>
                <a:latin typeface="Canva Sans Bold"/>
                <a:ea typeface="Canva Sans Bold"/>
                <a:cs typeface="Canva Sans Bold"/>
                <a:sym typeface="Canva Sans Bold"/>
              </a:rPr>
              <a:t>This weather forecasting project successfully integrates real-time weather data retrieval, data visualization, and automation to provide an insightful and user-friendly experience. The script fetches weather data for multiple cities, logs historical records, and presents the data in interactive charts, maps, and text reports.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EFCF"/>
        </a:solidFill>
        <a:effectLst/>
      </p:bgPr>
    </p:bg>
    <p:spTree>
      <p:nvGrpSpPr>
        <p:cNvPr id="1" name=""/>
        <p:cNvGrpSpPr/>
        <p:nvPr/>
      </p:nvGrpSpPr>
      <p:grpSpPr>
        <a:xfrm>
          <a:off x="0" y="0"/>
          <a:ext cx="0" cy="0"/>
          <a:chOff x="0" y="0"/>
          <a:chExt cx="0" cy="0"/>
        </a:xfrm>
      </p:grpSpPr>
      <p:sp>
        <p:nvSpPr>
          <p:cNvPr id="2" name="Freeform 2"/>
          <p:cNvSpPr/>
          <p:nvPr/>
        </p:nvSpPr>
        <p:spPr>
          <a:xfrm>
            <a:off x="0" y="-240193"/>
            <a:ext cx="18288000" cy="13441680"/>
          </a:xfrm>
          <a:custGeom>
            <a:avLst/>
            <a:gdLst/>
            <a:ahLst/>
            <a:cxnLst/>
            <a:rect l="l" t="t" r="r" b="b"/>
            <a:pathLst>
              <a:path w="18288000" h="13441680">
                <a:moveTo>
                  <a:pt x="0" y="0"/>
                </a:moveTo>
                <a:lnTo>
                  <a:pt x="18288000" y="0"/>
                </a:lnTo>
                <a:lnTo>
                  <a:pt x="18288000" y="13441680"/>
                </a:lnTo>
                <a:lnTo>
                  <a:pt x="0" y="13441680"/>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3812886"/>
            <a:ext cx="16624992" cy="3083180"/>
          </a:xfrm>
          <a:custGeom>
            <a:avLst/>
            <a:gdLst/>
            <a:ahLst/>
            <a:cxnLst/>
            <a:rect l="l" t="t" r="r" b="b"/>
            <a:pathLst>
              <a:path w="16624992" h="3083180">
                <a:moveTo>
                  <a:pt x="0" y="0"/>
                </a:moveTo>
                <a:lnTo>
                  <a:pt x="16624992" y="0"/>
                </a:lnTo>
                <a:lnTo>
                  <a:pt x="16624992" y="3083180"/>
                </a:lnTo>
                <a:lnTo>
                  <a:pt x="0" y="30831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823</Words>
  <Application>Microsoft Office PowerPoint</Application>
  <PresentationFormat>Custom</PresentationFormat>
  <Paragraphs>75</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Canva Sans Bold</vt:lpstr>
      <vt:lpstr>Arial</vt:lpstr>
      <vt:lpstr>Rundeck Texture</vt:lpstr>
      <vt:lpstr>Calibri</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Project Canva-PPT</dc:title>
  <cp:lastModifiedBy>Sree Navya</cp:lastModifiedBy>
  <cp:revision>1</cp:revision>
  <dcterms:created xsi:type="dcterms:W3CDTF">2006-08-16T00:00:00Z</dcterms:created>
  <dcterms:modified xsi:type="dcterms:W3CDTF">2025-04-30T11:05:41Z</dcterms:modified>
  <dc:identifier>DAGi4rleUEQ</dc:identifier>
</cp:coreProperties>
</file>